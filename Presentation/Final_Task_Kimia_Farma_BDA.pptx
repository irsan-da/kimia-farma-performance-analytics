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" userDrawn="1">
          <p15:clr>
            <a:srgbClr val="A4A3A4"/>
          </p15:clr>
        </p15:guide>
        <p15:guide id="2" pos="7296" userDrawn="1">
          <p15:clr>
            <a:srgbClr val="A4A3A4"/>
          </p15:clr>
        </p15:guide>
        <p15:guide id="3" orient="horz" pos="432" userDrawn="1">
          <p15:clr>
            <a:srgbClr val="A4A3A4"/>
          </p15:clr>
        </p15:guide>
        <p15:guide id="4" orient="horz" pos="38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B344"/>
    <a:srgbClr val="262262"/>
    <a:srgbClr val="3D567B"/>
    <a:srgbClr val="F1D60F"/>
    <a:srgbClr val="655D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78"/>
      </p:cViewPr>
      <p:guideLst>
        <p:guide pos="384"/>
        <p:guide pos="7296"/>
        <p:guide orient="horz" pos="432"/>
        <p:guide orient="horz"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2000" b="1" i="0" u="none" strike="noStrike">
                <a:solidFill>
                  <a:srgbClr val="13294B"/>
                </a:solidFill>
                <a:latin typeface="+mn-lt"/>
              </a:defRPr>
            </a:pPr>
            <a:r>
              <a:rPr lang="en-GB" sz="2000" b="1" i="0" u="none" strike="noStrike">
                <a:solidFill>
                  <a:srgbClr val="13294B"/>
                </a:solidFill>
                <a:latin typeface="+mn-lt"/>
              </a:rPr>
              <a:t>Total Nett Sales per Tahun (Rp Miliar)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Nett Sales (Rp Miliar)</c:v>
                </c:pt>
              </c:strCache>
            </c:strRef>
          </c:tx>
          <c:spPr>
            <a:ln w="38100" cap="flat">
              <a:solidFill>
                <a:srgbClr val="262262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262262"/>
              </a:solidFill>
              <a:ln w="9525" cap="flat">
                <a:solidFill>
                  <a:srgbClr val="26226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3294B"/>
                    </a:solidFill>
                    <a:latin typeface="+mn-lt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80.44</c:v>
                </c:pt>
                <c:pt idx="1">
                  <c:v>80.040000000000006</c:v>
                </c:pt>
                <c:pt idx="2">
                  <c:v>80.58</c:v>
                </c:pt>
                <c:pt idx="3">
                  <c:v>80.12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CD9-493E-A91E-FBF85B92344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2"/>
          <c:min val="78"/>
        </c:scaling>
        <c:delete val="0"/>
        <c:axPos val="l"/>
        <c:majorGridlines>
          <c:spPr>
            <a:ln w="12700" cap="flat">
              <a:solidFill>
                <a:srgbClr val="E2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2000" b="0" i="0" u="none" strike="noStrike">
                <a:solidFill>
                  <a:srgbClr val="13294B"/>
                </a:solidFill>
                <a:latin typeface="Arial"/>
              </a:defRPr>
            </a:pPr>
            <a:r>
              <a:rPr lang="en-GB" sz="2000" b="1" i="0" u="none" strike="noStrike" dirty="0">
                <a:solidFill>
                  <a:srgbClr val="13294B"/>
                </a:solidFill>
                <a:latin typeface="Arial"/>
              </a:rPr>
              <a:t>Top 10 </a:t>
            </a:r>
            <a:r>
              <a:rPr lang="en-GB" sz="2000" b="1" i="0" u="none" strike="noStrike" dirty="0" err="1">
                <a:solidFill>
                  <a:srgbClr val="13294B"/>
                </a:solidFill>
                <a:latin typeface="Arial"/>
              </a:rPr>
              <a:t>Provinsi</a:t>
            </a:r>
            <a:r>
              <a:rPr lang="en-GB" sz="2000" b="1" i="0" u="none" strike="noStrike" dirty="0">
                <a:solidFill>
                  <a:srgbClr val="13294B"/>
                </a:solidFill>
                <a:latin typeface="Arial"/>
              </a:rPr>
              <a:t> - Total Nett Sales (Rp </a:t>
            </a:r>
            <a:r>
              <a:rPr lang="en-GB" sz="2000" b="1" i="0" u="none" strike="noStrike" dirty="0" err="1">
                <a:solidFill>
                  <a:srgbClr val="13294B"/>
                </a:solidFill>
                <a:latin typeface="Arial"/>
              </a:rPr>
              <a:t>Miliar</a:t>
            </a:r>
            <a:r>
              <a:rPr lang="en-GB" sz="2000" b="1" i="0" u="none" strike="noStrike" dirty="0">
                <a:solidFill>
                  <a:srgbClr val="13294B"/>
                </a:solidFill>
                <a:latin typeface="Arial"/>
              </a:rPr>
              <a:t>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Nett Sales (Rp Miliar)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A68-4095-B418-0F0B7744CA7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A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Jawa Barat</c:v>
                </c:pt>
                <c:pt idx="1">
                  <c:v>Sumatera Utara</c:v>
                </c:pt>
                <c:pt idx="2">
                  <c:v>Jawa Tengah</c:v>
                </c:pt>
                <c:pt idx="3">
                  <c:v>Jawa Timur</c:v>
                </c:pt>
                <c:pt idx="4">
                  <c:v>Sulawesi Utara</c:v>
                </c:pt>
                <c:pt idx="5">
                  <c:v>Sumatera Barat</c:v>
                </c:pt>
                <c:pt idx="6">
                  <c:v>Aceh</c:v>
                </c:pt>
                <c:pt idx="7">
                  <c:v>NTB</c:v>
                </c:pt>
                <c:pt idx="8">
                  <c:v>Kalimantan Timur</c:v>
                </c:pt>
                <c:pt idx="9">
                  <c:v>Riau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94.87</c:v>
                </c:pt>
                <c:pt idx="1">
                  <c:v>22.95</c:v>
                </c:pt>
                <c:pt idx="2">
                  <c:v>22.25</c:v>
                </c:pt>
                <c:pt idx="3">
                  <c:v>16.63</c:v>
                </c:pt>
                <c:pt idx="4">
                  <c:v>15.9</c:v>
                </c:pt>
                <c:pt idx="5">
                  <c:v>15.31</c:v>
                </c:pt>
                <c:pt idx="6">
                  <c:v>10.47</c:v>
                </c:pt>
                <c:pt idx="7">
                  <c:v>10.039999999999999</c:v>
                </c:pt>
                <c:pt idx="8">
                  <c:v>9.7100000000000009</c:v>
                </c:pt>
                <c:pt idx="9">
                  <c:v>9.35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68-4095-B418-0F0B7744CA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226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3294B"/>
                </a:solidFill>
                <a:latin typeface="+mn-lt"/>
              </a:defRPr>
            </a:pPr>
            <a:r>
              <a:rPr lang="en-US" sz="1200" b="1" i="0" u="none" strike="noStrike">
                <a:solidFill>
                  <a:srgbClr val="13294B"/>
                </a:solidFill>
                <a:latin typeface="+mn-lt"/>
              </a:rPr>
              <a:t>Kategori Produk Terbanyak pada Tier Laba 30%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Transaksi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A54-4E2D-B94B-236403F4DBCE}"/>
              </c:ext>
            </c:extLst>
          </c:dPt>
          <c:dPt>
            <c:idx val="1"/>
            <c:bubble3D val="0"/>
            <c:spPr>
              <a:solidFill>
                <a:srgbClr val="F29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A54-4E2D-B94B-236403F4DBCE}"/>
              </c:ext>
            </c:extLst>
          </c:dPt>
          <c:dPt>
            <c:idx val="2"/>
            <c:bubble3D val="0"/>
            <c:spPr>
              <a:solidFill>
                <a:srgbClr val="1329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A54-4E2D-B94B-236403F4DBCE}"/>
              </c:ext>
            </c:extLst>
          </c:dPt>
          <c:dPt>
            <c:idx val="3"/>
            <c:bubble3D val="0"/>
            <c:spPr>
              <a:solidFill>
                <a:srgbClr val="6FB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A54-4E2D-B94B-236403F4DBCE}"/>
              </c:ext>
            </c:extLst>
          </c:dPt>
          <c:dPt>
            <c:idx val="4"/>
            <c:bubble3D val="0"/>
            <c:spPr>
              <a:solidFill>
                <a:srgbClr val="F5B8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A54-4E2D-B94B-236403F4DBCE}"/>
              </c:ext>
            </c:extLst>
          </c:dPt>
          <c:dPt>
            <c:idx val="5"/>
            <c:bubble3D val="0"/>
            <c:spPr>
              <a:solidFill>
                <a:srgbClr val="8FA0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A54-4E2D-B94B-236403F4DBCE}"/>
              </c:ext>
            </c:extLst>
          </c:dPt>
          <c:dPt>
            <c:idx val="6"/>
            <c:bubble3D val="0"/>
            <c:spPr>
              <a:solidFill>
                <a:srgbClr val="0A555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A54-4E2D-B94B-236403F4DBCE}"/>
              </c:ext>
            </c:extLst>
          </c:dPt>
          <c:dPt>
            <c:idx val="7"/>
            <c:bubble3D val="0"/>
            <c:spPr>
              <a:solidFill>
                <a:srgbClr val="D97C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A54-4E2D-B94B-236403F4DBC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A54-4E2D-B94B-236403F4DBC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A54-4E2D-B94B-236403F4DBC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A54-4E2D-B94B-236403F4DBCE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A54-4E2D-B94B-236403F4DBCE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A54-4E2D-B94B-236403F4DBCE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A54-4E2D-B94B-236403F4DBCE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FA54-4E2D-B94B-236403F4DBCE}"/>
                </c:ext>
              </c:extLst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A54-4E2D-B94B-236403F4DBC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R06 – Antihistamin</c:v>
                </c:pt>
                <c:pt idx="1">
                  <c:v>M01AE – NSAID</c:v>
                </c:pt>
                <c:pt idx="2">
                  <c:v>N02BE/B – Analgesik</c:v>
                </c:pt>
                <c:pt idx="3">
                  <c:v>N05C – Hipnotik</c:v>
                </c:pt>
                <c:pt idx="4">
                  <c:v>M01AB – NSAID</c:v>
                </c:pt>
                <c:pt idx="5">
                  <c:v>N02BA – Salisilat</c:v>
                </c:pt>
                <c:pt idx="6">
                  <c:v>R03 – Saluran napas</c:v>
                </c:pt>
                <c:pt idx="7">
                  <c:v>N05B – Anxiolytics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71801</c:v>
                </c:pt>
                <c:pt idx="1">
                  <c:v>58313</c:v>
                </c:pt>
                <c:pt idx="2">
                  <c:v>49202</c:v>
                </c:pt>
                <c:pt idx="3">
                  <c:v>44534</c:v>
                </c:pt>
                <c:pt idx="4">
                  <c:v>40343</c:v>
                </c:pt>
                <c:pt idx="5">
                  <c:v>31153</c:v>
                </c:pt>
                <c:pt idx="6">
                  <c:v>26880</c:v>
                </c:pt>
                <c:pt idx="7">
                  <c:v>26689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FA54-4E2D-B94B-236403F4DB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A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8700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irsanmaulana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github.com/Irsan-DA/customer-personality-conversion-analysis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rsan-DA/kimia-farma-performance-analytic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atastudio.google.com/u/0/reporting/f32d1baa-26df-4d35-b2d4-f87c490c78ce/page/nSb6F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irsanmaulana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rive.google.com/drive/folders/1OhakswL5wBn8s7ly0MVLihTFq2CC_J5L?usp=sharing" TargetMode="External"/><Relationship Id="rId5" Type="http://schemas.openxmlformats.org/officeDocument/2006/relationships/hyperlink" Target="Kimia_Farma_Analyst_EDA.ipynb" TargetMode="External"/><Relationship Id="rId4" Type="http://schemas.openxmlformats.org/officeDocument/2006/relationships/hyperlink" Target="https://github.com/Irsan-DA/kimia-farma-performance-analyti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4937760"/>
            <a:ext cx="2377440" cy="23774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33548" y="117970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DAB344"/>
                </a:solidFill>
              </a:rPr>
              <a:t>PERFORMANCE ANALYTICS</a:t>
            </a:r>
            <a:endParaRPr lang="en-US" sz="2000" dirty="0">
              <a:solidFill>
                <a:srgbClr val="DAB344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33548" y="1819786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Analisis Kinerja Bisnis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Kimia Farma 2020–2023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33548" y="3831466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AB344"/>
                </a:solidFill>
              </a:rPr>
              <a:t>Big Data Analyst - Project-Based Internship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DAB344"/>
                </a:solidFill>
              </a:rPr>
              <a:t>Rakamin Academy x Kimia Farma</a:t>
            </a:r>
          </a:p>
        </p:txBody>
      </p:sp>
      <p:sp>
        <p:nvSpPr>
          <p:cNvPr id="7" name="Shape 5"/>
          <p:cNvSpPr/>
          <p:nvPr/>
        </p:nvSpPr>
        <p:spPr>
          <a:xfrm>
            <a:off x="609600" y="4870871"/>
            <a:ext cx="1097280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3548" y="5039529"/>
            <a:ext cx="545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Disusun oleh</a:t>
            </a:r>
          </a:p>
        </p:txBody>
      </p:sp>
      <p:sp>
        <p:nvSpPr>
          <p:cNvPr id="9" name="Text 7"/>
          <p:cNvSpPr/>
          <p:nvPr/>
        </p:nvSpPr>
        <p:spPr>
          <a:xfrm>
            <a:off x="533548" y="5313849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</a:rPr>
              <a:t>Irsan</a:t>
            </a:r>
            <a:r>
              <a:rPr lang="en-US" sz="2000" b="1" dirty="0">
                <a:solidFill>
                  <a:srgbClr val="FFFFFF"/>
                </a:solidFill>
              </a:rPr>
              <a:t> Maulana </a:t>
            </a:r>
            <a:r>
              <a:rPr lang="en-US" sz="2000" b="1" dirty="0" err="1">
                <a:solidFill>
                  <a:srgbClr val="FFFFFF"/>
                </a:solidFill>
              </a:rPr>
              <a:t>yusuf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4678" y="406345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262262"/>
                </a:solidFill>
              </a:rPr>
              <a:t>Irsan</a:t>
            </a:r>
            <a:r>
              <a:rPr lang="en-US" sz="2000" b="1" dirty="0">
                <a:solidFill>
                  <a:srgbClr val="262262"/>
                </a:solidFill>
              </a:rPr>
              <a:t> Maulana Yusuf</a:t>
            </a:r>
            <a:endParaRPr lang="en-US" sz="2000" dirty="0">
              <a:solidFill>
                <a:srgbClr val="26226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04678" y="444855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AB344"/>
                </a:solidFill>
              </a:rPr>
              <a:t>Freelance Procurement Executor</a:t>
            </a:r>
            <a:endParaRPr lang="en-US" sz="1300" dirty="0">
              <a:solidFill>
                <a:srgbClr val="DAB344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04678" y="483710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62262"/>
                </a:solidFill>
              </a:rPr>
              <a:t>DOMISILI</a:t>
            </a:r>
            <a:endParaRPr lang="en-US" sz="1300" dirty="0">
              <a:solidFill>
                <a:srgbClr val="262262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739118" y="48371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AB344"/>
                </a:solidFill>
              </a:rPr>
              <a:t>Surabaya | Indonesia</a:t>
            </a:r>
          </a:p>
        </p:txBody>
      </p:sp>
      <p:sp>
        <p:nvSpPr>
          <p:cNvPr id="9" name="Text 7"/>
          <p:cNvSpPr/>
          <p:nvPr/>
        </p:nvSpPr>
        <p:spPr>
          <a:xfrm>
            <a:off x="504678" y="5201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62262"/>
                </a:solidFill>
              </a:rPr>
              <a:t>EMAIL</a:t>
            </a:r>
            <a:endParaRPr lang="en-US" sz="1300" dirty="0">
              <a:solidFill>
                <a:srgbClr val="262262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739118" y="520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AB344"/>
                </a:solidFill>
              </a:rPr>
              <a:t>irsanmaulanax@gmai.com</a:t>
            </a:r>
          </a:p>
        </p:txBody>
      </p:sp>
      <p:sp>
        <p:nvSpPr>
          <p:cNvPr id="11" name="Text 9"/>
          <p:cNvSpPr/>
          <p:nvPr/>
        </p:nvSpPr>
        <p:spPr>
          <a:xfrm>
            <a:off x="504678" y="55812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62262"/>
                </a:solidFill>
              </a:rPr>
              <a:t>LINKEDIN</a:t>
            </a:r>
            <a:endParaRPr lang="en-US" sz="1300" dirty="0">
              <a:solidFill>
                <a:srgbClr val="262262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739118" y="55812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AB344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Here</a:t>
            </a:r>
            <a:endParaRPr lang="en-US" sz="1300" b="1" dirty="0">
              <a:solidFill>
                <a:srgbClr val="DAB344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4678" y="5942033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62262"/>
                </a:solidFill>
              </a:rPr>
              <a:t>GITHUB</a:t>
            </a:r>
            <a:endParaRPr lang="en-US" sz="1300" dirty="0">
              <a:solidFill>
                <a:srgbClr val="262262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739118" y="5942033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AB344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Here</a:t>
            </a:r>
            <a:endParaRPr lang="en-US" sz="1300" b="1" dirty="0">
              <a:solidFill>
                <a:srgbClr val="DAB344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4678" y="432230"/>
            <a:ext cx="2819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AB344"/>
                </a:solidFill>
              </a:rPr>
              <a:t>About Me</a:t>
            </a:r>
          </a:p>
        </p:txBody>
      </p:sp>
      <p:sp>
        <p:nvSpPr>
          <p:cNvPr id="16" name="Text 14"/>
          <p:cNvSpPr/>
          <p:nvPr/>
        </p:nvSpPr>
        <p:spPr>
          <a:xfrm>
            <a:off x="504678" y="543012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2262"/>
                </a:solidFill>
                <a:ea typeface="Arial" pitchFamily="34" charset="-122"/>
                <a:cs typeface="Arial" pitchFamily="34" charset="-120"/>
              </a:rPr>
              <a:t>Big Data Analyst Internship</a:t>
            </a:r>
            <a:endParaRPr lang="en-US" sz="2000" dirty="0">
              <a:solidFill>
                <a:srgbClr val="262262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54415" y="1138780"/>
            <a:ext cx="7027985" cy="16722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262262"/>
                </a:solidFill>
              </a:rPr>
              <a:t>Professional with 4+ years working in a fast-moving Ed-tech environment, combining analytical thinking with strong visual communication. Experienced in cross-functional collaboration, business problem framing, and translating complex information into clear, structured outputs.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15D0841-3FAE-3A1B-01B3-96C1CBE80ED0}"/>
              </a:ext>
            </a:extLst>
          </p:cNvPr>
          <p:cNvGrpSpPr/>
          <p:nvPr/>
        </p:nvGrpSpPr>
        <p:grpSpPr>
          <a:xfrm>
            <a:off x="4647613" y="3303798"/>
            <a:ext cx="1489417" cy="594360"/>
            <a:chOff x="4663440" y="4166497"/>
            <a:chExt cx="1691640" cy="594360"/>
          </a:xfrm>
        </p:grpSpPr>
        <p:sp>
          <p:nvSpPr>
            <p:cNvPr id="18" name="Shape 16"/>
            <p:cNvSpPr/>
            <p:nvPr/>
          </p:nvSpPr>
          <p:spPr>
            <a:xfrm>
              <a:off x="4663440" y="4166497"/>
              <a:ext cx="1691640" cy="594360"/>
            </a:xfrm>
            <a:prstGeom prst="roundRect">
              <a:avLst/>
            </a:prstGeom>
            <a:ln w="19050">
              <a:solidFill>
                <a:srgbClr val="262262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 b="1">
                <a:solidFill>
                  <a:srgbClr val="262262"/>
                </a:solidFill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4663440" y="4166497"/>
              <a:ext cx="1691640" cy="594360"/>
            </a:xfrm>
            <a:prstGeom prst="roundRect">
              <a:avLst/>
            </a:prstGeom>
            <a:ln w="19050">
              <a:solidFill>
                <a:srgbClr val="262262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62262"/>
                  </a:solidFill>
                </a:rPr>
                <a:t>SQL &amp; BigQuery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79DDC1F-E015-DB71-7BAD-5AB3CEDC28F0}"/>
              </a:ext>
            </a:extLst>
          </p:cNvPr>
          <p:cNvGrpSpPr/>
          <p:nvPr/>
        </p:nvGrpSpPr>
        <p:grpSpPr>
          <a:xfrm>
            <a:off x="6267156" y="3301688"/>
            <a:ext cx="1489417" cy="594360"/>
            <a:chOff x="6537960" y="4166497"/>
            <a:chExt cx="1691640" cy="594360"/>
          </a:xfrm>
        </p:grpSpPr>
        <p:sp>
          <p:nvSpPr>
            <p:cNvPr id="20" name="Shape 18"/>
            <p:cNvSpPr/>
            <p:nvPr/>
          </p:nvSpPr>
          <p:spPr>
            <a:xfrm>
              <a:off x="6537960" y="4166497"/>
              <a:ext cx="1691640" cy="594360"/>
            </a:xfrm>
            <a:prstGeom prst="roundRect">
              <a:avLst/>
            </a:prstGeom>
            <a:ln w="19050">
              <a:solidFill>
                <a:srgbClr val="262262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 b="1">
                <a:solidFill>
                  <a:srgbClr val="262262"/>
                </a:solidFill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6537960" y="4166497"/>
              <a:ext cx="1691640" cy="594360"/>
            </a:xfrm>
            <a:prstGeom prst="roundRect">
              <a:avLst/>
            </a:prstGeom>
            <a:ln w="19050">
              <a:solidFill>
                <a:srgbClr val="262262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62262"/>
                  </a:solidFill>
                </a:rPr>
                <a:t>Python (Pandas)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16493CF-6719-8724-7BE9-3583DE523BB4}"/>
              </a:ext>
            </a:extLst>
          </p:cNvPr>
          <p:cNvGrpSpPr/>
          <p:nvPr/>
        </p:nvGrpSpPr>
        <p:grpSpPr>
          <a:xfrm>
            <a:off x="7886699" y="3303798"/>
            <a:ext cx="1489417" cy="594360"/>
            <a:chOff x="8412480" y="4166497"/>
            <a:chExt cx="1691640" cy="594360"/>
          </a:xfrm>
        </p:grpSpPr>
        <p:sp>
          <p:nvSpPr>
            <p:cNvPr id="22" name="Shape 20"/>
            <p:cNvSpPr/>
            <p:nvPr/>
          </p:nvSpPr>
          <p:spPr>
            <a:xfrm>
              <a:off x="8412480" y="4166497"/>
              <a:ext cx="1691640" cy="594360"/>
            </a:xfrm>
            <a:prstGeom prst="roundRect">
              <a:avLst/>
            </a:prstGeom>
            <a:ln w="19050">
              <a:solidFill>
                <a:srgbClr val="262262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 b="1">
                <a:solidFill>
                  <a:srgbClr val="262262"/>
                </a:solidFill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8412480" y="4166497"/>
              <a:ext cx="1691640" cy="594360"/>
            </a:xfrm>
            <a:prstGeom prst="roundRect">
              <a:avLst/>
            </a:prstGeom>
            <a:ln w="19050">
              <a:solidFill>
                <a:srgbClr val="262262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62262"/>
                  </a:solidFill>
                </a:rPr>
                <a:t>Data Visualization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906E92F-5CA5-0814-D6CF-BFD3B5BADD95}"/>
              </a:ext>
            </a:extLst>
          </p:cNvPr>
          <p:cNvGrpSpPr/>
          <p:nvPr/>
        </p:nvGrpSpPr>
        <p:grpSpPr>
          <a:xfrm>
            <a:off x="9506242" y="3301688"/>
            <a:ext cx="1489417" cy="594360"/>
            <a:chOff x="10287000" y="4166497"/>
            <a:chExt cx="1691640" cy="594360"/>
          </a:xfrm>
        </p:grpSpPr>
        <p:sp>
          <p:nvSpPr>
            <p:cNvPr id="24" name="Shape 22"/>
            <p:cNvSpPr/>
            <p:nvPr/>
          </p:nvSpPr>
          <p:spPr>
            <a:xfrm>
              <a:off x="10287000" y="4166497"/>
              <a:ext cx="1691640" cy="594360"/>
            </a:xfrm>
            <a:prstGeom prst="roundRect">
              <a:avLst/>
            </a:prstGeom>
            <a:ln w="19050">
              <a:solidFill>
                <a:srgbClr val="262262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 b="1">
                <a:solidFill>
                  <a:srgbClr val="262262"/>
                </a:solidFill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10287000" y="4166497"/>
              <a:ext cx="1691640" cy="594360"/>
            </a:xfrm>
            <a:prstGeom prst="roundRect">
              <a:avLst/>
            </a:prstGeom>
            <a:ln w="19050">
              <a:solidFill>
                <a:srgbClr val="262262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62262"/>
                  </a:solidFill>
                </a:rPr>
                <a:t>Looker Studio</a:t>
              </a:r>
            </a:p>
          </p:txBody>
        </p:sp>
      </p:grpSp>
      <p:sp>
        <p:nvSpPr>
          <p:cNvPr id="27" name="Text 25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02</a:t>
            </a:r>
            <a:endParaRPr lang="en-US" sz="10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540D5F8-A4C2-117A-6636-A6AFA59C70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1610" b="11812"/>
          <a:stretch>
            <a:fillRect/>
          </a:stretch>
        </p:blipFill>
        <p:spPr>
          <a:xfrm>
            <a:off x="644770" y="1140890"/>
            <a:ext cx="2834640" cy="2834640"/>
          </a:xfrm>
          <a:prstGeom prst="ellipse">
            <a:avLst/>
          </a:prstGeom>
        </p:spPr>
      </p:pic>
      <p:sp>
        <p:nvSpPr>
          <p:cNvPr id="36" name="Text 4">
            <a:extLst>
              <a:ext uri="{FF2B5EF4-FFF2-40B4-BE49-F238E27FC236}">
                <a16:creationId xmlns:a16="http://schemas.microsoft.com/office/drawing/2014/main" id="{FFF6B296-51EB-AD22-12C7-0C158459C28A}"/>
              </a:ext>
            </a:extLst>
          </p:cNvPr>
          <p:cNvSpPr/>
          <p:nvPr/>
        </p:nvSpPr>
        <p:spPr>
          <a:xfrm>
            <a:off x="4554415" y="29816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AB344"/>
                </a:solidFill>
              </a:rPr>
              <a:t>Basic Skill</a:t>
            </a:r>
            <a:endParaRPr lang="en-US" sz="1200" dirty="0">
              <a:solidFill>
                <a:srgbClr val="DAB344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833805F-C7C5-6EA5-1B1A-41D597B67153}"/>
              </a:ext>
            </a:extLst>
          </p:cNvPr>
          <p:cNvGrpSpPr/>
          <p:nvPr/>
        </p:nvGrpSpPr>
        <p:grpSpPr>
          <a:xfrm>
            <a:off x="4647613" y="4544568"/>
            <a:ext cx="3749040" cy="594360"/>
            <a:chOff x="4663440" y="4166497"/>
            <a:chExt cx="1691640" cy="594360"/>
          </a:xfrm>
        </p:grpSpPr>
        <p:sp>
          <p:nvSpPr>
            <p:cNvPr id="40" name="Shape 16">
              <a:extLst>
                <a:ext uri="{FF2B5EF4-FFF2-40B4-BE49-F238E27FC236}">
                  <a16:creationId xmlns:a16="http://schemas.microsoft.com/office/drawing/2014/main" id="{397EB9E1-D906-9E18-1243-DA7F3318B20D}"/>
                </a:ext>
              </a:extLst>
            </p:cNvPr>
            <p:cNvSpPr/>
            <p:nvPr/>
          </p:nvSpPr>
          <p:spPr>
            <a:xfrm>
              <a:off x="4663440" y="4166497"/>
              <a:ext cx="1691640" cy="594360"/>
            </a:xfrm>
            <a:prstGeom prst="roundRect">
              <a:avLst>
                <a:gd name="adj" fmla="val 12308"/>
              </a:avLst>
            </a:prstGeom>
            <a:solidFill>
              <a:srgbClr val="F4F6F8"/>
            </a:solidFill>
            <a:ln w="12700">
              <a:solidFill>
                <a:srgbClr val="D6DBE1"/>
              </a:solidFill>
              <a:prstDash val="solid"/>
            </a:ln>
          </p:spPr>
          <p:txBody>
            <a:bodyPr/>
            <a:lstStyle/>
            <a:p>
              <a:endParaRPr lang="en-US" sz="2000">
                <a:solidFill>
                  <a:srgbClr val="262262"/>
                </a:solidFill>
              </a:endParaRPr>
            </a:p>
          </p:txBody>
        </p:sp>
        <p:sp>
          <p:nvSpPr>
            <p:cNvPr id="41" name="Text 17">
              <a:extLst>
                <a:ext uri="{FF2B5EF4-FFF2-40B4-BE49-F238E27FC236}">
                  <a16:creationId xmlns:a16="http://schemas.microsoft.com/office/drawing/2014/main" id="{A488248F-61BF-51AB-DBB0-780647DB5813}"/>
                </a:ext>
              </a:extLst>
            </p:cNvPr>
            <p:cNvSpPr/>
            <p:nvPr/>
          </p:nvSpPr>
          <p:spPr>
            <a:xfrm>
              <a:off x="4663440" y="4166497"/>
              <a:ext cx="169164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262262"/>
                  </a:solidFill>
                </a:rPr>
                <a:t>Freelance Procurement Executor</a:t>
              </a:r>
              <a:endParaRPr lang="en-US" sz="2000" dirty="0">
                <a:solidFill>
                  <a:srgbClr val="262262"/>
                </a:solidFill>
              </a:endParaRPr>
            </a:p>
          </p:txBody>
        </p:sp>
      </p:grpSp>
      <p:sp>
        <p:nvSpPr>
          <p:cNvPr id="42" name="Text 4">
            <a:extLst>
              <a:ext uri="{FF2B5EF4-FFF2-40B4-BE49-F238E27FC236}">
                <a16:creationId xmlns:a16="http://schemas.microsoft.com/office/drawing/2014/main" id="{F4BA5047-4026-2C69-A0BE-F56D29B94B22}"/>
              </a:ext>
            </a:extLst>
          </p:cNvPr>
          <p:cNvSpPr/>
          <p:nvPr/>
        </p:nvSpPr>
        <p:spPr>
          <a:xfrm>
            <a:off x="4554415" y="422241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AB344"/>
                </a:solidFill>
              </a:rPr>
              <a:t>Work Experience</a:t>
            </a:r>
            <a:endParaRPr lang="en-US" sz="1200" dirty="0">
              <a:solidFill>
                <a:srgbClr val="DAB344"/>
              </a:solidFill>
            </a:endParaRPr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89A5C9F8-F998-DB96-9BEE-E9AD1AC65FDD}"/>
              </a:ext>
            </a:extLst>
          </p:cNvPr>
          <p:cNvSpPr/>
          <p:nvPr/>
        </p:nvSpPr>
        <p:spPr>
          <a:xfrm>
            <a:off x="9363809" y="4704588"/>
            <a:ext cx="72009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AB344"/>
                </a:solidFill>
              </a:rPr>
              <a:t>2026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D73EF7B-04D5-639E-CD26-CC404BADF31F}"/>
              </a:ext>
            </a:extLst>
          </p:cNvPr>
          <p:cNvGrpSpPr/>
          <p:nvPr/>
        </p:nvGrpSpPr>
        <p:grpSpPr>
          <a:xfrm>
            <a:off x="4647613" y="5459669"/>
            <a:ext cx="3749040" cy="594360"/>
            <a:chOff x="4663440" y="4166497"/>
            <a:chExt cx="1691640" cy="594360"/>
          </a:xfrm>
        </p:grpSpPr>
        <p:sp>
          <p:nvSpPr>
            <p:cNvPr id="45" name="Shape 16">
              <a:extLst>
                <a:ext uri="{FF2B5EF4-FFF2-40B4-BE49-F238E27FC236}">
                  <a16:creationId xmlns:a16="http://schemas.microsoft.com/office/drawing/2014/main" id="{26C4EABC-5861-CDC6-2EE7-EB81B91957F4}"/>
                </a:ext>
              </a:extLst>
            </p:cNvPr>
            <p:cNvSpPr/>
            <p:nvPr/>
          </p:nvSpPr>
          <p:spPr>
            <a:xfrm>
              <a:off x="4663440" y="4166497"/>
              <a:ext cx="1691640" cy="594360"/>
            </a:xfrm>
            <a:prstGeom prst="roundRect">
              <a:avLst>
                <a:gd name="adj" fmla="val 12308"/>
              </a:avLst>
            </a:prstGeom>
            <a:solidFill>
              <a:srgbClr val="F4F6F8"/>
            </a:solidFill>
            <a:ln w="12700">
              <a:solidFill>
                <a:srgbClr val="D6DBE1"/>
              </a:solidFill>
              <a:prstDash val="solid"/>
            </a:ln>
          </p:spPr>
          <p:txBody>
            <a:bodyPr/>
            <a:lstStyle/>
            <a:p>
              <a:endParaRPr lang="en-US" sz="2000">
                <a:solidFill>
                  <a:srgbClr val="262262"/>
                </a:solidFill>
              </a:endParaRPr>
            </a:p>
          </p:txBody>
        </p:sp>
        <p:sp>
          <p:nvSpPr>
            <p:cNvPr id="46" name="Text 17">
              <a:extLst>
                <a:ext uri="{FF2B5EF4-FFF2-40B4-BE49-F238E27FC236}">
                  <a16:creationId xmlns:a16="http://schemas.microsoft.com/office/drawing/2014/main" id="{0187D663-46DA-3F98-85A2-70FD232EED38}"/>
                </a:ext>
              </a:extLst>
            </p:cNvPr>
            <p:cNvSpPr/>
            <p:nvPr/>
          </p:nvSpPr>
          <p:spPr>
            <a:xfrm>
              <a:off x="4663440" y="4166497"/>
              <a:ext cx="169164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262262"/>
                  </a:solidFill>
                </a:rPr>
                <a:t>Mid-Staff Graphic Designer</a:t>
              </a:r>
              <a:endParaRPr lang="en-US" sz="2000" dirty="0">
                <a:solidFill>
                  <a:srgbClr val="262262"/>
                </a:solidFill>
              </a:endParaRPr>
            </a:p>
          </p:txBody>
        </p:sp>
      </p:grpSp>
      <p:sp>
        <p:nvSpPr>
          <p:cNvPr id="47" name="Text 6">
            <a:extLst>
              <a:ext uri="{FF2B5EF4-FFF2-40B4-BE49-F238E27FC236}">
                <a16:creationId xmlns:a16="http://schemas.microsoft.com/office/drawing/2014/main" id="{AF782C42-7ABA-54E4-0289-6F55E63C9586}"/>
              </a:ext>
            </a:extLst>
          </p:cNvPr>
          <p:cNvSpPr/>
          <p:nvPr/>
        </p:nvSpPr>
        <p:spPr>
          <a:xfrm>
            <a:off x="9363809" y="5619689"/>
            <a:ext cx="14331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AB344"/>
                </a:solidFill>
              </a:rPr>
              <a:t>2022 - 2026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248FBC8-E851-8032-3983-445B67BE365F}"/>
              </a:ext>
            </a:extLst>
          </p:cNvPr>
          <p:cNvCxnSpPr>
            <a:cxnSpLocks/>
          </p:cNvCxnSpPr>
          <p:nvPr/>
        </p:nvCxnSpPr>
        <p:spPr>
          <a:xfrm>
            <a:off x="8572500" y="4841748"/>
            <a:ext cx="615462" cy="0"/>
          </a:xfrm>
          <a:prstGeom prst="line">
            <a:avLst/>
          </a:prstGeom>
          <a:ln w="28575">
            <a:solidFill>
              <a:srgbClr val="262262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4D3D4C2-92F6-ECD1-7AD0-4C807B4453AA}"/>
              </a:ext>
            </a:extLst>
          </p:cNvPr>
          <p:cNvCxnSpPr>
            <a:cxnSpLocks/>
          </p:cNvCxnSpPr>
          <p:nvPr/>
        </p:nvCxnSpPr>
        <p:spPr>
          <a:xfrm>
            <a:off x="8572500" y="5756146"/>
            <a:ext cx="615462" cy="0"/>
          </a:xfrm>
          <a:prstGeom prst="line">
            <a:avLst/>
          </a:prstGeom>
          <a:ln w="28575">
            <a:solidFill>
              <a:srgbClr val="262262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8933" y="60381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2994A"/>
                </a:solidFill>
                <a:ea typeface="Arial" pitchFamily="34" charset="-122"/>
                <a:cs typeface="Arial" pitchFamily="34" charset="-120"/>
              </a:rPr>
              <a:t>ABOUT </a:t>
            </a:r>
            <a:r>
              <a:rPr lang="en-US" sz="2000" b="1" kern="0" spc="200" dirty="0">
                <a:solidFill>
                  <a:srgbClr val="DAB344"/>
                </a:solidFill>
                <a:ea typeface="Arial" pitchFamily="34" charset="-122"/>
                <a:cs typeface="Arial" pitchFamily="34" charset="-120"/>
              </a:rPr>
              <a:t>COMPANY</a:t>
            </a:r>
            <a:endParaRPr lang="en-US" sz="2000" dirty="0">
              <a:solidFill>
                <a:srgbClr val="DAB344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05778" y="891118"/>
            <a:ext cx="10515600" cy="3342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2262"/>
                </a:solidFill>
                <a:ea typeface="Arial" pitchFamily="34" charset="-122"/>
                <a:cs typeface="Arial" pitchFamily="34" charset="-120"/>
              </a:rPr>
              <a:t>PT Kimia Farma Tbk</a:t>
            </a:r>
            <a:endParaRPr lang="en-US" sz="2800" dirty="0">
              <a:solidFill>
                <a:srgbClr val="26226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388078"/>
            <a:ext cx="6263640" cy="18956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F2A37"/>
                </a:solidFill>
              </a:rPr>
              <a:t>Kimia Farma adalah perusahaan industri farmasi pertama di Indonesia, didirikan sejak tahun 1817. Kini, Kimia Farma telah berkembang menjadi penyedia layanan kesehatan terintegrasi dari hulu ke </a:t>
            </a:r>
            <a:r>
              <a:rPr lang="en-US" sz="1300" dirty="0" err="1">
                <a:solidFill>
                  <a:srgbClr val="1F2A37"/>
                </a:solidFill>
              </a:rPr>
              <a:t>hilir</a:t>
            </a:r>
            <a:r>
              <a:rPr lang="en-US" sz="1300" dirty="0">
                <a:solidFill>
                  <a:srgbClr val="1F2A37"/>
                </a:solidFill>
              </a:rPr>
              <a:t> - mencakup manufaktur farmasi, distribusi, ritel apotek, laboratorium klinik, hingga klinik kesehatan. Perusahaan ini tercatat di Bursa Efek Indonesia dengan kode saham KAEF dan merupakan bagian dari Holding BUMN Farmasi Indonesia.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9600" y="3465576"/>
            <a:ext cx="2956560" cy="1243584"/>
          </a:xfrm>
          <a:prstGeom prst="roundRect">
            <a:avLst>
              <a:gd name="adj" fmla="val 869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04193" y="3663837"/>
            <a:ext cx="1216047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AB344"/>
                </a:solidFill>
              </a:rPr>
              <a:t>1817</a:t>
            </a:r>
            <a:endParaRPr lang="en-US" sz="2000" dirty="0">
              <a:solidFill>
                <a:srgbClr val="DAB344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01040" y="4011930"/>
            <a:ext cx="271272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62262"/>
                </a:solidFill>
              </a:rPr>
              <a:t>Tahun berdiri, pionir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62262"/>
                </a:solidFill>
              </a:rPr>
              <a:t>industri farmasi RI</a:t>
            </a:r>
          </a:p>
        </p:txBody>
      </p:sp>
      <p:sp>
        <p:nvSpPr>
          <p:cNvPr id="17" name="Shape 15"/>
          <p:cNvSpPr/>
          <p:nvPr/>
        </p:nvSpPr>
        <p:spPr>
          <a:xfrm>
            <a:off x="7406640" y="1508760"/>
            <a:ext cx="4175760" cy="4663440"/>
          </a:xfrm>
          <a:prstGeom prst="roundRect">
            <a:avLst>
              <a:gd name="adj" fmla="val 3773"/>
            </a:avLst>
          </a:prstGeom>
          <a:solidFill>
            <a:srgbClr val="262262"/>
          </a:solidFill>
          <a:ln>
            <a:solidFill>
              <a:srgbClr val="2622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90688" y="20391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Lini </a:t>
            </a:r>
            <a:r>
              <a:rPr lang="en-US" sz="2000" b="1" dirty="0" err="1">
                <a:solidFill>
                  <a:srgbClr val="FFFFFF"/>
                </a:solidFill>
              </a:rPr>
              <a:t>Bisnis</a:t>
            </a:r>
            <a:r>
              <a:rPr lang="en-US" sz="2000" b="1" dirty="0">
                <a:solidFill>
                  <a:srgbClr val="FFFFFF"/>
                </a:solidFill>
              </a:rPr>
              <a:t> Utama: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790688" y="2660904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900416" y="25420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Manufaktur Farmasi (R&amp;D)</a:t>
            </a:r>
            <a:endParaRPr lang="en-US" sz="2000" b="1" dirty="0"/>
          </a:p>
        </p:txBody>
      </p:sp>
      <p:sp>
        <p:nvSpPr>
          <p:cNvPr id="21" name="Shape 19"/>
          <p:cNvSpPr/>
          <p:nvPr/>
        </p:nvSpPr>
        <p:spPr>
          <a:xfrm>
            <a:off x="7790688" y="3319272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900416" y="3200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Distribusi &amp; Perdagangan</a:t>
            </a:r>
            <a:endParaRPr lang="en-US" sz="2000" b="1" dirty="0"/>
          </a:p>
        </p:txBody>
      </p:sp>
      <p:sp>
        <p:nvSpPr>
          <p:cNvPr id="23" name="Shape 21"/>
          <p:cNvSpPr/>
          <p:nvPr/>
        </p:nvSpPr>
        <p:spPr>
          <a:xfrm>
            <a:off x="7790688" y="3977640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900416" y="38587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Ritel Farmasi (Apotek)</a:t>
            </a:r>
            <a:endParaRPr lang="en-US" sz="2000" b="1" dirty="0"/>
          </a:p>
        </p:txBody>
      </p:sp>
      <p:sp>
        <p:nvSpPr>
          <p:cNvPr id="25" name="Shape 23"/>
          <p:cNvSpPr/>
          <p:nvPr/>
        </p:nvSpPr>
        <p:spPr>
          <a:xfrm>
            <a:off x="7790688" y="4636008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900416" y="451713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Laboratorium Klinik</a:t>
            </a:r>
            <a:endParaRPr lang="en-US" sz="2000" b="1" dirty="0"/>
          </a:p>
        </p:txBody>
      </p:sp>
      <p:sp>
        <p:nvSpPr>
          <p:cNvPr id="27" name="Shape 25"/>
          <p:cNvSpPr/>
          <p:nvPr/>
        </p:nvSpPr>
        <p:spPr>
          <a:xfrm>
            <a:off x="7790688" y="5294376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900416" y="51642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Klinik Kesehatan</a:t>
            </a:r>
            <a:endParaRPr lang="en-US" sz="2000" b="1" dirty="0"/>
          </a:p>
        </p:txBody>
      </p:sp>
      <p:sp>
        <p:nvSpPr>
          <p:cNvPr id="29" name="Text 27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03</a:t>
            </a:r>
            <a:endParaRPr lang="en-US" sz="1000" dirty="0"/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92394BC4-30C5-E3DC-0411-4269C5CC7A41}"/>
              </a:ext>
            </a:extLst>
          </p:cNvPr>
          <p:cNvSpPr/>
          <p:nvPr/>
        </p:nvSpPr>
        <p:spPr>
          <a:xfrm>
            <a:off x="3855720" y="3465576"/>
            <a:ext cx="2956560" cy="1243584"/>
          </a:xfrm>
          <a:prstGeom prst="roundRect">
            <a:avLst>
              <a:gd name="adj" fmla="val 869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F20B79C1-B196-C0DF-7430-23EAA799ECD0}"/>
              </a:ext>
            </a:extLst>
          </p:cNvPr>
          <p:cNvSpPr/>
          <p:nvPr/>
        </p:nvSpPr>
        <p:spPr>
          <a:xfrm>
            <a:off x="3950313" y="3663837"/>
            <a:ext cx="1216047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DAB344"/>
                </a:solidFill>
              </a:rPr>
              <a:t>1.300+</a:t>
            </a:r>
            <a:endParaRPr lang="en-US" sz="2000" dirty="0">
              <a:solidFill>
                <a:srgbClr val="DAB344"/>
              </a:solidFill>
            </a:endParaRPr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8B04996C-9686-1C69-B8AE-EE1FAA8C6C30}"/>
              </a:ext>
            </a:extLst>
          </p:cNvPr>
          <p:cNvSpPr/>
          <p:nvPr/>
        </p:nvSpPr>
        <p:spPr>
          <a:xfrm>
            <a:off x="3947160" y="4011930"/>
            <a:ext cx="271272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262262"/>
                </a:solidFill>
              </a:rPr>
              <a:t>Outlet </a:t>
            </a:r>
            <a:r>
              <a:rPr lang="en-US" sz="2000" dirty="0" err="1">
                <a:solidFill>
                  <a:srgbClr val="262262"/>
                </a:solidFill>
              </a:rPr>
              <a:t>ritel</a:t>
            </a:r>
            <a:r>
              <a:rPr lang="en-US" sz="2000" dirty="0">
                <a:solidFill>
                  <a:srgbClr val="262262"/>
                </a:solidFill>
              </a:rPr>
              <a:t> </a:t>
            </a:r>
            <a:r>
              <a:rPr lang="en-US" sz="2000" dirty="0" err="1">
                <a:solidFill>
                  <a:srgbClr val="262262"/>
                </a:solidFill>
              </a:rPr>
              <a:t>farmasi</a:t>
            </a:r>
            <a:endParaRPr lang="en-US" sz="2000" dirty="0">
              <a:solidFill>
                <a:srgbClr val="262262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262262"/>
                </a:solidFill>
              </a:rPr>
              <a:t>(</a:t>
            </a:r>
            <a:r>
              <a:rPr lang="en-US" sz="2000" dirty="0" err="1">
                <a:solidFill>
                  <a:srgbClr val="262262"/>
                </a:solidFill>
              </a:rPr>
              <a:t>apotek</a:t>
            </a:r>
            <a:r>
              <a:rPr lang="en-US" sz="2000" dirty="0">
                <a:solidFill>
                  <a:srgbClr val="262262"/>
                </a:solidFill>
              </a:rPr>
              <a:t>) di Indonesia</a:t>
            </a:r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39FBD5E6-4F81-759C-C2D7-50A11E252FC6}"/>
              </a:ext>
            </a:extLst>
          </p:cNvPr>
          <p:cNvSpPr/>
          <p:nvPr/>
        </p:nvSpPr>
        <p:spPr>
          <a:xfrm>
            <a:off x="609600" y="4942138"/>
            <a:ext cx="2956560" cy="1243584"/>
          </a:xfrm>
          <a:prstGeom prst="roundRect">
            <a:avLst>
              <a:gd name="adj" fmla="val 869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191D5A2F-807D-7885-D56A-4BCB24F4000C}"/>
              </a:ext>
            </a:extLst>
          </p:cNvPr>
          <p:cNvSpPr/>
          <p:nvPr/>
        </p:nvSpPr>
        <p:spPr>
          <a:xfrm>
            <a:off x="704193" y="5140399"/>
            <a:ext cx="1216047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DAB344"/>
                </a:solidFill>
              </a:rPr>
              <a:t>400+</a:t>
            </a:r>
            <a:endParaRPr lang="en-US" sz="2000" dirty="0">
              <a:solidFill>
                <a:srgbClr val="DAB344"/>
              </a:solidFill>
            </a:endParaRPr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393D41EE-7720-F8DA-5E97-A2546022D69B}"/>
              </a:ext>
            </a:extLst>
          </p:cNvPr>
          <p:cNvSpPr/>
          <p:nvPr/>
        </p:nvSpPr>
        <p:spPr>
          <a:xfrm>
            <a:off x="701040" y="5488492"/>
            <a:ext cx="271272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262262"/>
                </a:solidFill>
              </a:rPr>
              <a:t>Klinik </a:t>
            </a:r>
            <a:r>
              <a:rPr lang="en-US" sz="2000" dirty="0" err="1">
                <a:solidFill>
                  <a:srgbClr val="262262"/>
                </a:solidFill>
              </a:rPr>
              <a:t>kesehatan</a:t>
            </a:r>
            <a:endParaRPr lang="en-US" sz="2000" dirty="0">
              <a:solidFill>
                <a:srgbClr val="262262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262262"/>
                </a:solidFill>
              </a:rPr>
              <a:t>yang </a:t>
            </a:r>
            <a:r>
              <a:rPr lang="en-US" sz="2000" dirty="0" err="1">
                <a:solidFill>
                  <a:srgbClr val="262262"/>
                </a:solidFill>
              </a:rPr>
              <a:t>dikelola</a:t>
            </a:r>
            <a:endParaRPr lang="en-US" sz="2000" dirty="0">
              <a:solidFill>
                <a:srgbClr val="262262"/>
              </a:solidFill>
            </a:endParaRPr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E1312DA1-5E4A-3C9D-6F6D-C6A3822F57EC}"/>
              </a:ext>
            </a:extLst>
          </p:cNvPr>
          <p:cNvSpPr/>
          <p:nvPr/>
        </p:nvSpPr>
        <p:spPr>
          <a:xfrm>
            <a:off x="3855720" y="4942138"/>
            <a:ext cx="2956560" cy="1243584"/>
          </a:xfrm>
          <a:prstGeom prst="roundRect">
            <a:avLst>
              <a:gd name="adj" fmla="val 869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9123043D-311B-D3D5-0A3E-40E8A982A661}"/>
              </a:ext>
            </a:extLst>
          </p:cNvPr>
          <p:cNvSpPr/>
          <p:nvPr/>
        </p:nvSpPr>
        <p:spPr>
          <a:xfrm>
            <a:off x="3950313" y="5140399"/>
            <a:ext cx="1216047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DAB344"/>
                </a:solidFill>
              </a:rPr>
              <a:t>KAEF</a:t>
            </a:r>
            <a:endParaRPr lang="en-US" sz="2000" dirty="0">
              <a:solidFill>
                <a:srgbClr val="DAB344"/>
              </a:solidFill>
            </a:endParaRPr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C35E281F-3312-17B2-C590-99390AC3B2F4}"/>
              </a:ext>
            </a:extLst>
          </p:cNvPr>
          <p:cNvSpPr/>
          <p:nvPr/>
        </p:nvSpPr>
        <p:spPr>
          <a:xfrm>
            <a:off x="3947160" y="5488492"/>
            <a:ext cx="271272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262262"/>
                </a:solidFill>
              </a:rPr>
              <a:t>Kode </a:t>
            </a:r>
            <a:r>
              <a:rPr lang="en-US" sz="2000" dirty="0" err="1">
                <a:solidFill>
                  <a:srgbClr val="262262"/>
                </a:solidFill>
              </a:rPr>
              <a:t>saham</a:t>
            </a:r>
            <a:r>
              <a:rPr lang="en-US" sz="2000" dirty="0">
                <a:solidFill>
                  <a:srgbClr val="262262"/>
                </a:solidFill>
              </a:rPr>
              <a:t> di Bursa</a:t>
            </a:r>
          </a:p>
          <a:p>
            <a:pPr>
              <a:lnSpc>
                <a:spcPct val="110000"/>
              </a:lnSpc>
            </a:pPr>
            <a:r>
              <a:rPr lang="en-US" sz="2000" dirty="0" err="1">
                <a:solidFill>
                  <a:srgbClr val="262262"/>
                </a:solidFill>
              </a:rPr>
              <a:t>Efek</a:t>
            </a:r>
            <a:r>
              <a:rPr lang="en-US" sz="2000" dirty="0">
                <a:solidFill>
                  <a:srgbClr val="262262"/>
                </a:solidFill>
              </a:rPr>
              <a:t> Indonesia</a:t>
            </a:r>
          </a:p>
        </p:txBody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13C16A4A-962A-DE43-FA30-3F9E9AA1C83F}"/>
              </a:ext>
            </a:extLst>
          </p:cNvPr>
          <p:cNvSpPr/>
          <p:nvPr/>
        </p:nvSpPr>
        <p:spPr>
          <a:xfrm>
            <a:off x="609600" y="3319272"/>
            <a:ext cx="6202680" cy="0"/>
          </a:xfrm>
          <a:prstGeom prst="line">
            <a:avLst/>
          </a:prstGeom>
          <a:noFill/>
          <a:ln w="9525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9"/>
          <p:cNvSpPr/>
          <p:nvPr/>
        </p:nvSpPr>
        <p:spPr>
          <a:xfrm>
            <a:off x="1965784" y="4950265"/>
            <a:ext cx="2543174" cy="1062989"/>
          </a:xfrm>
          <a:prstGeom prst="roundRect">
            <a:avLst>
              <a:gd name="adj" fmla="val 6897"/>
            </a:avLst>
          </a:prstGeom>
          <a:solidFill>
            <a:srgbClr val="2622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69318" y="4938835"/>
            <a:ext cx="2379822" cy="1078992"/>
          </a:xfrm>
          <a:prstGeom prst="roundRect">
            <a:avLst>
              <a:gd name="adj" fmla="val 6897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612758" y="4938835"/>
            <a:ext cx="2543174" cy="1084707"/>
          </a:xfrm>
          <a:prstGeom prst="roundRect">
            <a:avLst>
              <a:gd name="adj" fmla="val 6897"/>
            </a:avLst>
          </a:prstGeom>
          <a:solidFill>
            <a:srgbClr val="2622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31512"/>
            <a:ext cx="497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AB344"/>
                </a:solidFill>
              </a:rPr>
              <a:t>Latar Belakang</a:t>
            </a:r>
            <a:endParaRPr lang="en-US" sz="1200" dirty="0">
              <a:solidFill>
                <a:srgbClr val="DAB344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1" y="1954661"/>
            <a:ext cx="8233409" cy="816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2262"/>
                </a:solidFill>
              </a:rPr>
              <a:t>Sebagai bagian dari Final Task Big Data Analyst Virtual Internship (</a:t>
            </a:r>
            <a:r>
              <a:rPr lang="en-US" sz="1300" b="1" dirty="0">
                <a:solidFill>
                  <a:srgbClr val="262262"/>
                </a:solidFill>
              </a:rPr>
              <a:t>Rakamin Academy x Kimia Farma</a:t>
            </a:r>
            <a:r>
              <a:rPr lang="en-US" sz="1300" dirty="0">
                <a:solidFill>
                  <a:srgbClr val="262262"/>
                </a:solidFill>
              </a:rPr>
              <a:t>), project ini bertujuan mengevaluasi kinerja bisnis Kimia Farma periode 2020–2023 menggunakan data transaksi, cabang, produk, dan inventori.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885705"/>
            <a:ext cx="497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AB344"/>
                </a:solidFill>
              </a:rPr>
              <a:t>Problem Statement</a:t>
            </a:r>
            <a:endParaRPr lang="en-US" sz="1200" dirty="0">
              <a:solidFill>
                <a:srgbClr val="DAB344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3205745"/>
            <a:ext cx="8233409" cy="816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2262"/>
                </a:solidFill>
              </a:rPr>
              <a:t>Bagaimana </a:t>
            </a:r>
            <a:r>
              <a:rPr lang="en-US" sz="1300" b="1" dirty="0">
                <a:solidFill>
                  <a:srgbClr val="262262"/>
                </a:solidFill>
              </a:rPr>
              <a:t>tren </a:t>
            </a:r>
            <a:r>
              <a:rPr lang="en-US" sz="1300" b="1" dirty="0" err="1">
                <a:solidFill>
                  <a:srgbClr val="262262"/>
                </a:solidFill>
              </a:rPr>
              <a:t>pendapatan</a:t>
            </a:r>
            <a:r>
              <a:rPr lang="en-US" sz="1300" b="1" dirty="0">
                <a:solidFill>
                  <a:srgbClr val="262262"/>
                </a:solidFill>
              </a:rPr>
              <a:t> Kimia Farma dari tahun ke tahun? Faktor apa yang benar-benar memengaruhi </a:t>
            </a:r>
            <a:r>
              <a:rPr lang="en-US" sz="1300" b="1" dirty="0" err="1">
                <a:solidFill>
                  <a:srgbClr val="262262"/>
                </a:solidFill>
              </a:rPr>
              <a:t>performa</a:t>
            </a:r>
            <a:r>
              <a:rPr lang="en-US" sz="1300" b="1" dirty="0">
                <a:solidFill>
                  <a:srgbClr val="262262"/>
                </a:solidFill>
              </a:rPr>
              <a:t> </a:t>
            </a:r>
            <a:r>
              <a:rPr lang="en-US" sz="1300" b="1" dirty="0" err="1">
                <a:solidFill>
                  <a:srgbClr val="262262"/>
                </a:solidFill>
              </a:rPr>
              <a:t>cabang</a:t>
            </a:r>
            <a:r>
              <a:rPr lang="en-US" sz="1300" b="1" dirty="0">
                <a:solidFill>
                  <a:srgbClr val="262262"/>
                </a:solidFill>
              </a:rPr>
              <a:t> lokasi</a:t>
            </a:r>
            <a:r>
              <a:rPr lang="en-US" sz="1300" dirty="0">
                <a:solidFill>
                  <a:srgbClr val="262262"/>
                </a:solidFill>
              </a:rPr>
              <a:t>, </a:t>
            </a:r>
            <a:r>
              <a:rPr lang="en-US" sz="1300" b="1" dirty="0" err="1">
                <a:solidFill>
                  <a:srgbClr val="262262"/>
                </a:solidFill>
              </a:rPr>
              <a:t>diskon</a:t>
            </a:r>
            <a:r>
              <a:rPr lang="en-US" sz="1300" b="1" dirty="0">
                <a:solidFill>
                  <a:srgbClr val="262262"/>
                </a:solidFill>
              </a:rPr>
              <a:t>, kategori layanan</a:t>
            </a:r>
            <a:r>
              <a:rPr lang="en-US" sz="1300" dirty="0">
                <a:solidFill>
                  <a:srgbClr val="262262"/>
                </a:solidFill>
              </a:rPr>
              <a:t>, </a:t>
            </a:r>
            <a:r>
              <a:rPr lang="en-US" sz="1300" b="1" dirty="0">
                <a:solidFill>
                  <a:srgbClr val="262262"/>
                </a:solidFill>
              </a:rPr>
              <a:t>atau rating?</a:t>
            </a:r>
            <a:r>
              <a:rPr lang="en-US" sz="1300" dirty="0">
                <a:solidFill>
                  <a:srgbClr val="262262"/>
                </a:solidFill>
              </a:rPr>
              <a:t> Insight ini digunakan sebagai dasar rekomendasi strategi bisnis.</a:t>
            </a:r>
          </a:p>
        </p:txBody>
      </p:sp>
      <p:sp>
        <p:nvSpPr>
          <p:cNvPr id="12" name="Text 10"/>
          <p:cNvSpPr/>
          <p:nvPr/>
        </p:nvSpPr>
        <p:spPr>
          <a:xfrm>
            <a:off x="1965784" y="4189567"/>
            <a:ext cx="2543173" cy="626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AB344"/>
                </a:solidFill>
              </a:rPr>
              <a:t>4</a:t>
            </a:r>
            <a:endParaRPr lang="en-US" sz="4000" dirty="0">
              <a:solidFill>
                <a:srgbClr val="DAB344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2222960" y="5085330"/>
            <a:ext cx="2028822" cy="8336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4E9F0"/>
                </a:solidFill>
              </a:rPr>
              <a:t>Dataset sumber</a:t>
            </a:r>
            <a:endParaRPr lang="en-US" sz="1600" b="1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4E9F0"/>
                </a:solidFill>
              </a:rPr>
              <a:t>(transaksi, inventori,</a:t>
            </a:r>
            <a:endParaRPr lang="en-US" sz="1600" b="1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4E9F0"/>
                </a:solidFill>
              </a:rPr>
              <a:t>cabang, produk)</a:t>
            </a:r>
            <a:endParaRPr lang="en-US" sz="1600" b="1" dirty="0"/>
          </a:p>
        </p:txBody>
      </p:sp>
      <p:sp>
        <p:nvSpPr>
          <p:cNvPr id="15" name="Text 13"/>
          <p:cNvSpPr/>
          <p:nvPr/>
        </p:nvSpPr>
        <p:spPr>
          <a:xfrm>
            <a:off x="4869318" y="4179441"/>
            <a:ext cx="2379822" cy="626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AB344"/>
                </a:solidFill>
              </a:rPr>
              <a:t>672.458</a:t>
            </a:r>
            <a:endParaRPr lang="en-US" sz="4000" dirty="0">
              <a:solidFill>
                <a:srgbClr val="DAB344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65870" y="5053137"/>
            <a:ext cx="1986717" cy="7936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4E9F0"/>
                </a:solidFill>
              </a:rPr>
              <a:t>Total baris data</a:t>
            </a:r>
            <a:endParaRPr lang="en-US" sz="1600" b="1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 err="1">
                <a:solidFill>
                  <a:srgbClr val="E4E9F0"/>
                </a:solidFill>
              </a:rPr>
              <a:t>transaksi</a:t>
            </a:r>
            <a:r>
              <a:rPr lang="en-US" sz="1600" b="1" dirty="0">
                <a:solidFill>
                  <a:srgbClr val="E4E9F0"/>
                </a:solidFill>
              </a:rPr>
              <a:t> 2020 -2023</a:t>
            </a:r>
            <a:endParaRPr lang="en-US" sz="1600" b="1" dirty="0"/>
          </a:p>
        </p:txBody>
      </p:sp>
      <p:sp>
        <p:nvSpPr>
          <p:cNvPr id="18" name="Text 16"/>
          <p:cNvSpPr/>
          <p:nvPr/>
        </p:nvSpPr>
        <p:spPr>
          <a:xfrm>
            <a:off x="7612758" y="4189567"/>
            <a:ext cx="2543174" cy="6159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AB344"/>
                </a:solidFill>
              </a:rPr>
              <a:t>1</a:t>
            </a:r>
            <a:endParaRPr lang="en-US" sz="4000" dirty="0">
              <a:solidFill>
                <a:srgbClr val="DAB344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7990384" y="5095999"/>
            <a:ext cx="1787922" cy="707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4E9F0"/>
                </a:solidFill>
              </a:rPr>
              <a:t>Tabel analisa</a:t>
            </a:r>
            <a:endParaRPr lang="en-US" sz="1600" b="1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4E9F0"/>
                </a:solidFill>
              </a:rPr>
              <a:t>hasil agregasi</a:t>
            </a:r>
            <a:endParaRPr lang="en-US" sz="1600" b="1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04</a:t>
            </a:r>
            <a:endParaRPr lang="en-US" sz="1000" dirty="0"/>
          </a:p>
        </p:txBody>
      </p:sp>
      <p:sp>
        <p:nvSpPr>
          <p:cNvPr id="26" name="Text 0">
            <a:extLst>
              <a:ext uri="{FF2B5EF4-FFF2-40B4-BE49-F238E27FC236}">
                <a16:creationId xmlns:a16="http://schemas.microsoft.com/office/drawing/2014/main" id="{2C8420F8-E81E-5A3C-9A66-2BD5ADF49E8C}"/>
              </a:ext>
            </a:extLst>
          </p:cNvPr>
          <p:cNvSpPr/>
          <p:nvPr/>
        </p:nvSpPr>
        <p:spPr>
          <a:xfrm>
            <a:off x="528933" y="62157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200" dirty="0">
                <a:solidFill>
                  <a:srgbClr val="F2994A"/>
                </a:solidFill>
                <a:ea typeface="Arial" pitchFamily="34" charset="-122"/>
                <a:cs typeface="Arial" pitchFamily="34" charset="-120"/>
              </a:rPr>
              <a:t>PROJECT PORTFOLIO</a:t>
            </a:r>
            <a:endParaRPr lang="en-US" sz="2000" dirty="0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B9DD4778-4AA3-1829-9B66-83FD0D07E854}"/>
              </a:ext>
            </a:extLst>
          </p:cNvPr>
          <p:cNvSpPr/>
          <p:nvPr/>
        </p:nvSpPr>
        <p:spPr>
          <a:xfrm>
            <a:off x="505778" y="908874"/>
            <a:ext cx="10515600" cy="3342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3294B"/>
                </a:solidFill>
                <a:ea typeface="Arial" pitchFamily="34" charset="-122"/>
                <a:cs typeface="Arial" pitchFamily="34" charset="-120"/>
              </a:rPr>
              <a:t>Performance Analytics: Kimia Farma 2020–2023</a:t>
            </a:r>
            <a:endParaRPr lang="en-US" sz="2800" dirty="0"/>
          </a:p>
        </p:txBody>
      </p:sp>
      <p:sp>
        <p:nvSpPr>
          <p:cNvPr id="30" name="Shape 0">
            <a:extLst>
              <a:ext uri="{FF2B5EF4-FFF2-40B4-BE49-F238E27FC236}">
                <a16:creationId xmlns:a16="http://schemas.microsoft.com/office/drawing/2014/main" id="{46E8E711-E27A-2266-3787-E8ADA4341D0A}"/>
              </a:ext>
            </a:extLst>
          </p:cNvPr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1395485"/>
            <a:ext cx="11033760" cy="8683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2262"/>
                </a:solidFill>
              </a:rPr>
              <a:t>Empat dataset mentah diimpor sebagai tabel di BigQuery pada project “</a:t>
            </a:r>
            <a:r>
              <a:rPr lang="en-US" sz="1300" b="1" dirty="0">
                <a:solidFill>
                  <a:srgbClr val="262262"/>
                </a:solidFill>
              </a:rPr>
              <a:t>kimia-farma-analytics-1</a:t>
            </a:r>
            <a:r>
              <a:rPr lang="en-US" sz="1300" dirty="0">
                <a:solidFill>
                  <a:srgbClr val="262262"/>
                </a:solidFill>
              </a:rPr>
              <a:t>”, dataset “</a:t>
            </a:r>
            <a:r>
              <a:rPr lang="en-US" sz="1300" b="1" dirty="0">
                <a:solidFill>
                  <a:srgbClr val="262262"/>
                </a:solidFill>
              </a:rPr>
              <a:t>kimia_farma</a:t>
            </a:r>
            <a:r>
              <a:rPr lang="en-US" sz="1300" dirty="0">
                <a:solidFill>
                  <a:srgbClr val="262262"/>
                </a:solidFill>
              </a:rPr>
              <a:t>”. Dua file berukuran kecil diimpor langsung via BigQuery Web UI; dua file besar (&gt;10MB, melebihi batas upload UI) diimpor melalui Cloud Shell menggunakan perintah bq load dengan schema didefinisikan </a:t>
            </a:r>
            <a:r>
              <a:rPr lang="en-US" sz="1300" dirty="0" err="1">
                <a:solidFill>
                  <a:srgbClr val="262262"/>
                </a:solidFill>
              </a:rPr>
              <a:t>secara</a:t>
            </a:r>
            <a:r>
              <a:rPr lang="en-US" sz="1300" dirty="0">
                <a:solidFill>
                  <a:srgbClr val="262262"/>
                </a:solidFill>
              </a:rPr>
              <a:t> explicit - khususnya kolom tanggal yang disimpan sebagai STRING (format M/D/YYYY) agar tidak salah diparsing saat auto-detect.</a:t>
            </a: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392663"/>
              </p:ext>
            </p:extLst>
          </p:nvPr>
        </p:nvGraphicFramePr>
        <p:xfrm>
          <a:off x="609600" y="2484120"/>
          <a:ext cx="7254240" cy="2194560"/>
        </p:xfrm>
        <a:graphic>
          <a:graphicData uri="http://schemas.openxmlformats.org/drawingml/2006/table">
            <a:tbl>
              <a:tblPr/>
              <a:tblGrid>
                <a:gridCol w="18228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0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06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Tabel</a:t>
                      </a:r>
                      <a:endParaRPr lang="en-US" sz="13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Jumlah Baris</a:t>
                      </a:r>
                      <a:endParaRPr lang="en-US" sz="13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Metode Import</a:t>
                      </a:r>
                      <a:endParaRPr lang="en-US" sz="13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262"/>
                          </a:solidFill>
                        </a:rPr>
                        <a:t>kf_kantor_cabang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262"/>
                          </a:solidFill>
                        </a:rPr>
                        <a:t>1.725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262"/>
                          </a:solidFill>
                        </a:rPr>
                        <a:t>BigQuery Web UI (upload langsung)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262"/>
                          </a:solidFill>
                        </a:rPr>
                        <a:t>kf_product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262"/>
                          </a:solidFill>
                        </a:rPr>
                        <a:t>150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262"/>
                          </a:solidFill>
                        </a:rPr>
                        <a:t>BigQuery Web UI (upload langsung)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262"/>
                          </a:solidFill>
                        </a:rPr>
                        <a:t>kf_final_transaction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262"/>
                          </a:solidFill>
                        </a:rPr>
                        <a:t>672.458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262"/>
                          </a:solidFill>
                        </a:rPr>
                        <a:t>Cloud Shell — bq load (schema manual)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262"/>
                          </a:solidFill>
                        </a:rPr>
                        <a:t>kf_inventory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262"/>
                          </a:solidFill>
                        </a:rPr>
                        <a:t>1.035.000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262"/>
                          </a:solidFill>
                        </a:rPr>
                        <a:t>Cloud Shell — bq load (schema manual)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8229600" y="2484120"/>
            <a:ext cx="3352800" cy="2194560"/>
          </a:xfrm>
          <a:prstGeom prst="roundRect">
            <a:avLst>
              <a:gd name="adj" fmla="val 5000"/>
            </a:avLst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en-US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8458200" y="2819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 Validasi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458200" y="3380827"/>
            <a:ext cx="2926080" cy="9948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4F5F5"/>
                </a:solidFill>
              </a:rPr>
              <a:t>Row count tiap tabel dibandingkan langsung dengan jumlah baris CSV asli. Seluruh angka cocok 100% - tidak ada data hilang atau gagal ter-load.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4898994"/>
            <a:ext cx="1103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62262"/>
                </a:solidFill>
              </a:rPr>
              <a:t>Strategi: file besar dinaikkan lewat Cloud Shell (bq load) untuk menghindari limit upload 10MB pada BigQuery Web UI — pendekatan yang tidak memerlukan setup billing/Cloud Storage tambahan</a:t>
            </a:r>
            <a:r>
              <a:rPr lang="en-US" sz="1300" i="1" dirty="0">
                <a:solidFill>
                  <a:srgbClr val="6B7280"/>
                </a:solidFill>
              </a:rPr>
              <a:t>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05</a:t>
            </a:r>
            <a:endParaRPr lang="en-US" sz="1000" dirty="0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E617978B-53DE-1C01-6BB4-3911DE8ED7E0}"/>
              </a:ext>
            </a:extLst>
          </p:cNvPr>
          <p:cNvSpPr/>
          <p:nvPr/>
        </p:nvSpPr>
        <p:spPr>
          <a:xfrm>
            <a:off x="528933" y="62157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200" dirty="0">
                <a:solidFill>
                  <a:srgbClr val="F2994A"/>
                </a:solidFill>
                <a:ea typeface="Arial" pitchFamily="34" charset="-122"/>
                <a:cs typeface="Arial" pitchFamily="34" charset="-120"/>
              </a:rPr>
              <a:t>1 - DATA PREPARATION</a:t>
            </a: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407A049E-4F3D-12A0-1D4F-7CAA086E4E8F}"/>
              </a:ext>
            </a:extLst>
          </p:cNvPr>
          <p:cNvSpPr/>
          <p:nvPr/>
        </p:nvSpPr>
        <p:spPr>
          <a:xfrm>
            <a:off x="505778" y="908874"/>
            <a:ext cx="10515600" cy="3342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262262"/>
                </a:solidFill>
                <a:ea typeface="Arial" pitchFamily="34" charset="-122"/>
                <a:cs typeface="Arial" pitchFamily="34" charset="-120"/>
              </a:rPr>
              <a:t>Importing Dataset to BigQuery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600" y="1645920"/>
            <a:ext cx="2956560" cy="685800"/>
          </a:xfrm>
          <a:prstGeom prst="roundRect">
            <a:avLst>
              <a:gd name="adj" fmla="val 10667"/>
            </a:avLst>
          </a:prstGeom>
          <a:solidFill>
            <a:srgbClr val="F4F6F8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9600" y="1645920"/>
            <a:ext cx="295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2262"/>
                </a:solidFill>
              </a:rPr>
              <a:t>kf_final_transaction</a:t>
            </a:r>
            <a:endParaRPr lang="en-US" sz="2000" dirty="0">
              <a:solidFill>
                <a:srgbClr val="262262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566160" y="1988820"/>
            <a:ext cx="822960" cy="0"/>
          </a:xfrm>
          <a:prstGeom prst="line">
            <a:avLst/>
          </a:prstGeom>
          <a:noFill/>
          <a:ln w="22225">
            <a:solidFill>
              <a:srgbClr val="26226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9600" y="2560320"/>
            <a:ext cx="2956560" cy="685800"/>
          </a:xfrm>
          <a:prstGeom prst="roundRect">
            <a:avLst>
              <a:gd name="adj" fmla="val 10667"/>
            </a:avLst>
          </a:prstGeom>
          <a:solidFill>
            <a:srgbClr val="F4F6F8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9600" y="2560320"/>
            <a:ext cx="295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2262"/>
                </a:solidFill>
              </a:rPr>
              <a:t>kf_kantor_cabang</a:t>
            </a:r>
            <a:endParaRPr lang="en-US" sz="2000" dirty="0">
              <a:solidFill>
                <a:srgbClr val="262262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566160" y="2903220"/>
            <a:ext cx="822960" cy="0"/>
          </a:xfrm>
          <a:prstGeom prst="line">
            <a:avLst/>
          </a:prstGeom>
          <a:noFill/>
          <a:ln w="22225">
            <a:solidFill>
              <a:srgbClr val="26226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09600" y="3474720"/>
            <a:ext cx="2956560" cy="685800"/>
          </a:xfrm>
          <a:prstGeom prst="roundRect">
            <a:avLst>
              <a:gd name="adj" fmla="val 10667"/>
            </a:avLst>
          </a:prstGeom>
          <a:solidFill>
            <a:srgbClr val="F4F6F8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9600" y="3474720"/>
            <a:ext cx="295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2262"/>
                </a:solidFill>
              </a:rPr>
              <a:t>kf_product</a:t>
            </a:r>
            <a:endParaRPr lang="en-US" sz="2000" dirty="0">
              <a:solidFill>
                <a:srgbClr val="262262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566160" y="3817620"/>
            <a:ext cx="822960" cy="0"/>
          </a:xfrm>
          <a:prstGeom prst="line">
            <a:avLst/>
          </a:prstGeom>
          <a:noFill/>
          <a:ln w="22225">
            <a:solidFill>
              <a:srgbClr val="26226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34840" y="2331720"/>
            <a:ext cx="2606040" cy="1188720"/>
          </a:xfrm>
          <a:prstGeom prst="roundRect">
            <a:avLst>
              <a:gd name="adj" fmla="val 7692"/>
            </a:avLst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34840" y="233172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INNER JOIN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+ CASE WHEN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086600" y="2926080"/>
            <a:ext cx="640080" cy="0"/>
          </a:xfrm>
          <a:prstGeom prst="line">
            <a:avLst/>
          </a:prstGeom>
          <a:noFill/>
          <a:ln w="22225">
            <a:solidFill>
              <a:srgbClr val="26226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72400" y="2194560"/>
            <a:ext cx="3810000" cy="1463040"/>
          </a:xfrm>
          <a:prstGeom prst="roundRect">
            <a:avLst>
              <a:gd name="adj" fmla="val 6250"/>
            </a:avLst>
          </a:prstGeom>
          <a:solidFill>
            <a:srgbClr val="2622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78427" y="2331720"/>
            <a:ext cx="28186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AB344"/>
                </a:solidFill>
              </a:rPr>
              <a:t>tabel_analisa</a:t>
            </a:r>
            <a:endParaRPr lang="en-US" sz="2000" dirty="0">
              <a:solidFill>
                <a:srgbClr val="DAB344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8020974" y="2743200"/>
            <a:ext cx="333356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E4E9F0"/>
                </a:solidFill>
              </a:rPr>
              <a:t>672.458 baris - identik dengan</a:t>
            </a:r>
            <a:endParaRPr lang="en-US" sz="2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E4E9F0"/>
                </a:solidFill>
              </a:rPr>
              <a:t>jumlah transaksi asli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06</a:t>
            </a:r>
            <a:endParaRPr lang="en-US" sz="1000" dirty="0"/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A0F668F1-B0C3-A4B1-0D90-B698FFA06EFE}"/>
              </a:ext>
            </a:extLst>
          </p:cNvPr>
          <p:cNvSpPr/>
          <p:nvPr/>
        </p:nvSpPr>
        <p:spPr>
          <a:xfrm>
            <a:off x="528933" y="62157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200" dirty="0">
                <a:solidFill>
                  <a:srgbClr val="F2994A"/>
                </a:solidFill>
                <a:ea typeface="Arial" pitchFamily="34" charset="-122"/>
                <a:cs typeface="Arial" pitchFamily="34" charset="-120"/>
              </a:rPr>
              <a:t>2 - DATA MODELING</a:t>
            </a:r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6C7F9F65-C36B-7309-D6E0-F60841A060FA}"/>
              </a:ext>
            </a:extLst>
          </p:cNvPr>
          <p:cNvSpPr/>
          <p:nvPr/>
        </p:nvSpPr>
        <p:spPr>
          <a:xfrm>
            <a:off x="505778" y="908874"/>
            <a:ext cx="10515600" cy="3342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262262"/>
                </a:solidFill>
                <a:ea typeface="Arial" pitchFamily="34" charset="-122"/>
                <a:cs typeface="Arial" pitchFamily="34" charset="-120"/>
              </a:rPr>
              <a:t>Membangun Tabel Analisa</a:t>
            </a:r>
          </a:p>
        </p:txBody>
      </p:sp>
      <p:graphicFrame>
        <p:nvGraphicFramePr>
          <p:cNvPr id="32" name="Table 0">
            <a:extLst>
              <a:ext uri="{FF2B5EF4-FFF2-40B4-BE49-F238E27FC236}">
                <a16:creationId xmlns:a16="http://schemas.microsoft.com/office/drawing/2014/main" id="{F0023A23-5EFB-0909-4A60-9F7F8C7FD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073693"/>
              </p:ext>
            </p:extLst>
          </p:nvPr>
        </p:nvGraphicFramePr>
        <p:xfrm>
          <a:off x="609600" y="4411535"/>
          <a:ext cx="10972800" cy="1755648"/>
        </p:xfrm>
        <a:graphic>
          <a:graphicData uri="http://schemas.openxmlformats.org/drawingml/2006/table">
            <a:tbl>
              <a:tblPr/>
              <a:tblGrid>
                <a:gridCol w="1725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7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Kolom Hasil </a:t>
                      </a:r>
                      <a:r>
                        <a:rPr lang="en-US" sz="2000" b="1" dirty="0" err="1">
                          <a:solidFill>
                            <a:schemeClr val="bg1"/>
                          </a:solidFill>
                        </a:rPr>
                        <a:t>Kalkulasi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6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 err="1">
                          <a:solidFill>
                            <a:srgbClr val="262262"/>
                          </a:solidFill>
                        </a:rPr>
                        <a:t>persentase_gross_laba</a:t>
                      </a:r>
                      <a:endParaRPr lang="en-US" sz="1300" dirty="0">
                        <a:solidFill>
                          <a:srgbClr val="262262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262"/>
                          </a:solidFill>
                        </a:rPr>
                        <a:t>CASE WHEN tier </a:t>
                      </a:r>
                      <a:r>
                        <a:rPr lang="en-US" sz="1300" dirty="0" err="1">
                          <a:solidFill>
                            <a:srgbClr val="262262"/>
                          </a:solidFill>
                        </a:rPr>
                        <a:t>actual_price</a:t>
                      </a:r>
                      <a:r>
                        <a:rPr lang="en-US" sz="1300" dirty="0">
                          <a:solidFill>
                            <a:srgbClr val="262262"/>
                          </a:solidFill>
                        </a:rPr>
                        <a:t>: ≤50rb→10% | ≤100rb→15% | ≤300rb→20% | ≤500rb→25% | &gt;500rb→30%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 err="1">
                          <a:solidFill>
                            <a:srgbClr val="262262"/>
                          </a:solidFill>
                        </a:rPr>
                        <a:t>nett_sales</a:t>
                      </a:r>
                      <a:endParaRPr lang="en-US" sz="1300" dirty="0">
                        <a:solidFill>
                          <a:srgbClr val="262262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300" dirty="0" err="1">
                          <a:solidFill>
                            <a:srgbClr val="262262"/>
                          </a:solidFill>
                        </a:rPr>
                        <a:t>actual_price</a:t>
                      </a:r>
                      <a:r>
                        <a:rPr lang="en-GB" sz="1300" dirty="0">
                          <a:solidFill>
                            <a:srgbClr val="262262"/>
                          </a:solidFill>
                        </a:rPr>
                        <a:t> × (1 − </a:t>
                      </a:r>
                      <a:r>
                        <a:rPr lang="en-GB" sz="1300" dirty="0" err="1">
                          <a:solidFill>
                            <a:srgbClr val="262262"/>
                          </a:solidFill>
                        </a:rPr>
                        <a:t>discount_percentage</a:t>
                      </a:r>
                      <a:r>
                        <a:rPr lang="en-GB" sz="1300" dirty="0">
                          <a:solidFill>
                            <a:srgbClr val="262262"/>
                          </a:solidFill>
                        </a:rPr>
                        <a:t>)</a:t>
                      </a:r>
                      <a:endParaRPr lang="en-US" sz="1300" dirty="0">
                        <a:solidFill>
                          <a:srgbClr val="262262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 err="1">
                          <a:solidFill>
                            <a:srgbClr val="262262"/>
                          </a:solidFill>
                        </a:rPr>
                        <a:t>nett_profit</a:t>
                      </a:r>
                      <a:endParaRPr lang="en-US" sz="1300" dirty="0">
                        <a:solidFill>
                          <a:srgbClr val="262262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 err="1">
                          <a:solidFill>
                            <a:srgbClr val="262262"/>
                          </a:solidFill>
                        </a:rPr>
                        <a:t>nett_sales</a:t>
                      </a:r>
                      <a:r>
                        <a:rPr lang="en-US" sz="1300" dirty="0">
                          <a:solidFill>
                            <a:srgbClr val="262262"/>
                          </a:solidFill>
                        </a:rPr>
                        <a:t> × </a:t>
                      </a:r>
                      <a:r>
                        <a:rPr lang="en-US" sz="1300" dirty="0" err="1">
                          <a:solidFill>
                            <a:srgbClr val="262262"/>
                          </a:solidFill>
                        </a:rPr>
                        <a:t>persentase_gross_laba</a:t>
                      </a:r>
                      <a:endParaRPr lang="en-US" sz="1300" dirty="0">
                        <a:solidFill>
                          <a:srgbClr val="262262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>
            <a:extLst>
              <a:ext uri="{FF2B5EF4-FFF2-40B4-BE49-F238E27FC236}">
                <a16:creationId xmlns:a16="http://schemas.microsoft.com/office/drawing/2014/main" id="{70391D07-FD6D-8434-ED83-B75F60F442D5}"/>
              </a:ext>
            </a:extLst>
          </p:cNvPr>
          <p:cNvSpPr/>
          <p:nvPr/>
        </p:nvSpPr>
        <p:spPr>
          <a:xfrm>
            <a:off x="9509760" y="4480560"/>
            <a:ext cx="4206240" cy="420624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00" y="1390169"/>
            <a:ext cx="5205274" cy="4782031"/>
          </a:xfrm>
          <a:prstGeom prst="roundRect">
            <a:avLst>
              <a:gd name="adj" fmla="val 3723"/>
            </a:avLst>
          </a:prstGeom>
          <a:solidFill>
            <a:schemeClr val="accent5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6113" y="1600200"/>
            <a:ext cx="4757941" cy="422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8E8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CREATE OR REPLACE TABLE `kimia_farma.tabel_analisa` AS</a:t>
            </a:r>
            <a:endParaRPr lang="en-US" sz="1000" dirty="0"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8E8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00" dirty="0"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8E8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t.transaction_id,</a:t>
            </a:r>
            <a:endParaRPr lang="en-US" sz="1000" dirty="0"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8E8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PARSE_DATE('%m/%d/%Y', t.date) AS date,</a:t>
            </a:r>
            <a:endParaRPr lang="en-US" sz="1000" dirty="0"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8E8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b.branch_id, b.branch_name, b.kota, b.provinsi,</a:t>
            </a:r>
            <a:endParaRPr lang="en-US" sz="1000" dirty="0"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8E8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b.rating AS rating_cabang,</a:t>
            </a:r>
            <a:endParaRPr lang="en-US" sz="1000" dirty="0"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8E8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t.customer_name, p.product_id, p.product_name,</a:t>
            </a:r>
            <a:endParaRPr lang="en-US" sz="1000" dirty="0"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8E8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t.price AS actual_price, t.discount_percentage,</a:t>
            </a:r>
            <a:endParaRPr lang="en-US" sz="1000" dirty="0"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8E8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CASE</a:t>
            </a:r>
            <a:endParaRPr lang="en-US" sz="1000" dirty="0"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8E8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WHEN t.price &lt;= 50000 THEN 0.10</a:t>
            </a:r>
            <a:endParaRPr lang="en-US" sz="1000" dirty="0"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8E8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WHEN t.price &lt;= 100000 THEN 0.15</a:t>
            </a:r>
            <a:endParaRPr lang="en-US" sz="1000" dirty="0"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8E8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WHEN t.price &lt;= 300000 THEN 0.20</a:t>
            </a:r>
            <a:endParaRPr lang="en-US" sz="1000" dirty="0"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8E8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WHEN t.price &lt;= 500000 THEN 0.25</a:t>
            </a:r>
            <a:endParaRPr lang="en-US" sz="1000" dirty="0"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8E8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ELSE 0.30</a:t>
            </a:r>
            <a:endParaRPr lang="en-US" sz="1000" dirty="0"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8E8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END AS persentase_gross_laba,</a:t>
            </a:r>
            <a:endParaRPr lang="en-US" sz="1000" dirty="0"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8E8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t.price * (1 - t.discount_percentage) AS nett_sales,</a:t>
            </a:r>
            <a:endParaRPr lang="en-US" sz="1000" dirty="0"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8E8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000" dirty="0"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8E8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t.rating AS rating_transaksi</a:t>
            </a:r>
            <a:endParaRPr lang="en-US" sz="1000" dirty="0"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8E8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FROM `kimia_farma.kf_final_transaction` t</a:t>
            </a:r>
            <a:endParaRPr lang="en-US" sz="1000" dirty="0"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8E8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INNER JOIN `kimia_farma.kf_kantor_cabang` b USING(branch_id)</a:t>
            </a:r>
            <a:endParaRPr lang="en-US" sz="1000" dirty="0"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8E8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INNER JOIN `kimia_farma.kf_product` p USING(product_id)</a:t>
            </a:r>
            <a:endParaRPr lang="en-US" sz="1000" dirty="0">
              <a:latin typeface="Consolas" panose="020B0609020204030204" pitchFamily="49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0" y="1425965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2262"/>
                </a:solidFill>
              </a:rPr>
              <a:t>Repository GitHub</a:t>
            </a:r>
            <a:endParaRPr lang="en-US" sz="2000" dirty="0">
              <a:solidFill>
                <a:srgbClr val="262262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6000" y="1965960"/>
            <a:ext cx="5486400" cy="594360"/>
          </a:xfrm>
          <a:prstGeom prst="roundRect">
            <a:avLst>
              <a:gd name="adj" fmla="val 1467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24726" y="2094257"/>
            <a:ext cx="520527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6B7280"/>
                </a:solidFill>
              </a:rPr>
              <a:t>[Repo Link Can Access Here for full Code](</a:t>
            </a:r>
            <a:r>
              <a:rPr lang="en-US" sz="1300" i="1" dirty="0">
                <a:solidFill>
                  <a:srgbClr val="6B7280"/>
                </a:solidFill>
                <a:hlinkClick r:id="rId3"/>
              </a:rPr>
              <a:t>Link HERE</a:t>
            </a:r>
            <a:r>
              <a:rPr lang="en-US" sz="1300" i="1" dirty="0">
                <a:solidFill>
                  <a:srgbClr val="6B7280"/>
                </a:solidFill>
              </a:rPr>
              <a:t>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6000" y="268833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2262"/>
                </a:solidFill>
              </a:rPr>
              <a:t>Catatan Strategi</a:t>
            </a:r>
            <a:endParaRPr lang="en-US" sz="2000" dirty="0">
              <a:solidFill>
                <a:srgbClr val="262262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193260" y="3176524"/>
            <a:ext cx="91440" cy="9144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77128" y="3059257"/>
            <a:ext cx="5205272" cy="285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37"/>
                </a:solidFill>
              </a:rPr>
              <a:t>kf_inventory tidak di-JOIN - tidak ada kolom mandatory dari tabel ini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62262"/>
                </a:solidFill>
              </a:rPr>
              <a:t>07</a:t>
            </a:r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C270A6AA-D5A2-C45A-BEB7-17534C23CBF3}"/>
              </a:ext>
            </a:extLst>
          </p:cNvPr>
          <p:cNvSpPr/>
          <p:nvPr/>
        </p:nvSpPr>
        <p:spPr>
          <a:xfrm>
            <a:off x="528933" y="62157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200" dirty="0">
                <a:solidFill>
                  <a:srgbClr val="F2994A"/>
                </a:solidFill>
                <a:ea typeface="Arial" pitchFamily="34" charset="-122"/>
                <a:cs typeface="Arial" pitchFamily="34" charset="-120"/>
              </a:rPr>
              <a:t>3 - BIGQUERY SYNTAX</a:t>
            </a: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6F51CD72-5C4B-7862-13EB-93373B099C10}"/>
              </a:ext>
            </a:extLst>
          </p:cNvPr>
          <p:cNvSpPr/>
          <p:nvPr/>
        </p:nvSpPr>
        <p:spPr>
          <a:xfrm>
            <a:off x="505778" y="908874"/>
            <a:ext cx="10515600" cy="3342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262262"/>
                </a:solidFill>
                <a:ea typeface="Arial" pitchFamily="34" charset="-122"/>
                <a:cs typeface="Arial" pitchFamily="34" charset="-120"/>
              </a:rPr>
              <a:t>Query </a:t>
            </a:r>
            <a:r>
              <a:rPr lang="en-US" sz="2800" b="1" dirty="0" err="1">
                <a:solidFill>
                  <a:srgbClr val="262262"/>
                </a:solidFill>
                <a:ea typeface="Arial" pitchFamily="34" charset="-122"/>
                <a:cs typeface="Arial" pitchFamily="34" charset="-120"/>
              </a:rPr>
              <a:t>Pembuatan</a:t>
            </a:r>
            <a:r>
              <a:rPr lang="en-US" sz="2800" b="1" dirty="0">
                <a:solidFill>
                  <a:srgbClr val="262262"/>
                </a:solidFill>
                <a:ea typeface="Arial" pitchFamily="34" charset="-122"/>
                <a:cs typeface="Arial" pitchFamily="34" charset="-120"/>
              </a:rPr>
              <a:t> Tabel Analisa</a:t>
            </a:r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2C3A7461-A855-AB42-7694-232F217643F5}"/>
              </a:ext>
            </a:extLst>
          </p:cNvPr>
          <p:cNvSpPr/>
          <p:nvPr/>
        </p:nvSpPr>
        <p:spPr>
          <a:xfrm>
            <a:off x="6193260" y="3716786"/>
            <a:ext cx="91440" cy="9144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95722154-0EBC-09D0-70FA-2FCA3A1205EC}"/>
              </a:ext>
            </a:extLst>
          </p:cNvPr>
          <p:cNvSpPr/>
          <p:nvPr/>
        </p:nvSpPr>
        <p:spPr>
          <a:xfrm>
            <a:off x="6377128" y="3514254"/>
            <a:ext cx="5205272" cy="4771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37"/>
                </a:solidFill>
              </a:rPr>
              <a:t>Kolom date </a:t>
            </a:r>
            <a:r>
              <a:rPr lang="en-US" sz="1300" dirty="0" err="1">
                <a:solidFill>
                  <a:srgbClr val="1F2A37"/>
                </a:solidFill>
              </a:rPr>
              <a:t>disimpan</a:t>
            </a:r>
            <a:r>
              <a:rPr lang="en-US" sz="1300" dirty="0">
                <a:solidFill>
                  <a:srgbClr val="1F2A37"/>
                </a:solidFill>
              </a:rPr>
              <a:t> STRING </a:t>
            </a:r>
            <a:r>
              <a:rPr lang="en-US" sz="1300" dirty="0" err="1">
                <a:solidFill>
                  <a:srgbClr val="1F2A37"/>
                </a:solidFill>
              </a:rPr>
              <a:t>saat</a:t>
            </a:r>
            <a:r>
              <a:rPr lang="en-US" sz="1300" dirty="0">
                <a:solidFill>
                  <a:srgbClr val="1F2A37"/>
                </a:solidFill>
              </a:rPr>
              <a:t> import, di-parse </a:t>
            </a:r>
            <a:r>
              <a:rPr lang="en-US" sz="1300" dirty="0" err="1">
                <a:solidFill>
                  <a:srgbClr val="1F2A37"/>
                </a:solidFill>
              </a:rPr>
              <a:t>eksplisit</a:t>
            </a:r>
            <a:r>
              <a:rPr lang="en-US" sz="1300" dirty="0">
                <a:solidFill>
                  <a:srgbClr val="1F2A37"/>
                </a:solidFill>
              </a:rPr>
              <a:t> via PARSE_DATE</a:t>
            </a:r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042B4752-12DB-E9B7-5BE6-124AC52B1712}"/>
              </a:ext>
            </a:extLst>
          </p:cNvPr>
          <p:cNvSpPr/>
          <p:nvPr/>
        </p:nvSpPr>
        <p:spPr>
          <a:xfrm>
            <a:off x="6193260" y="4206695"/>
            <a:ext cx="91440" cy="9144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69CAA36B-0FAB-ECD2-A581-E25E12744AFD}"/>
              </a:ext>
            </a:extLst>
          </p:cNvPr>
          <p:cNvSpPr/>
          <p:nvPr/>
        </p:nvSpPr>
        <p:spPr>
          <a:xfrm>
            <a:off x="6377128" y="4089428"/>
            <a:ext cx="5205272" cy="285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 err="1">
                <a:solidFill>
                  <a:srgbClr val="1F2A37"/>
                </a:solidFill>
              </a:rPr>
              <a:t>branch_id</a:t>
            </a:r>
            <a:r>
              <a:rPr lang="en-US" sz="1300" dirty="0">
                <a:solidFill>
                  <a:srgbClr val="1F2A37"/>
                </a:solidFill>
              </a:rPr>
              <a:t> &amp; </a:t>
            </a:r>
            <a:r>
              <a:rPr lang="en-US" sz="1300" dirty="0" err="1">
                <a:solidFill>
                  <a:srgbClr val="1F2A37"/>
                </a:solidFill>
              </a:rPr>
              <a:t>product_id</a:t>
            </a:r>
            <a:r>
              <a:rPr lang="en-US" sz="1300" dirty="0">
                <a:solidFill>
                  <a:srgbClr val="1F2A37"/>
                </a:solidFill>
              </a:rPr>
              <a:t> </a:t>
            </a:r>
            <a:r>
              <a:rPr lang="en-US" sz="1300" dirty="0" err="1">
                <a:solidFill>
                  <a:srgbClr val="1F2A37"/>
                </a:solidFill>
              </a:rPr>
              <a:t>tervalidasi</a:t>
            </a:r>
            <a:r>
              <a:rPr lang="en-US" sz="1300" dirty="0">
                <a:solidFill>
                  <a:srgbClr val="1F2A37"/>
                </a:solidFill>
              </a:rPr>
              <a:t> </a:t>
            </a:r>
            <a:r>
              <a:rPr lang="en-US" sz="1300" dirty="0" err="1">
                <a:solidFill>
                  <a:srgbClr val="1F2A37"/>
                </a:solidFill>
              </a:rPr>
              <a:t>unik</a:t>
            </a:r>
            <a:r>
              <a:rPr lang="en-US" sz="1300" dirty="0">
                <a:solidFill>
                  <a:srgbClr val="1F2A37"/>
                </a:solidFill>
              </a:rPr>
              <a:t> - JOIN </a:t>
            </a:r>
            <a:r>
              <a:rPr lang="en-US" sz="1300" dirty="0" err="1">
                <a:solidFill>
                  <a:srgbClr val="1F2A37"/>
                </a:solidFill>
              </a:rPr>
              <a:t>aman</a:t>
            </a:r>
            <a:r>
              <a:rPr lang="en-US" sz="1300" dirty="0">
                <a:solidFill>
                  <a:srgbClr val="1F2A37"/>
                </a:solidFill>
              </a:rPr>
              <a:t> </a:t>
            </a:r>
            <a:r>
              <a:rPr lang="en-US" sz="1300" dirty="0" err="1">
                <a:solidFill>
                  <a:srgbClr val="1F2A37"/>
                </a:solidFill>
              </a:rPr>
              <a:t>tanpa</a:t>
            </a:r>
            <a:r>
              <a:rPr lang="en-US" sz="1300" dirty="0">
                <a:solidFill>
                  <a:srgbClr val="1F2A37"/>
                </a:solidFill>
              </a:rPr>
              <a:t> </a:t>
            </a:r>
            <a:r>
              <a:rPr lang="en-US" sz="1300" dirty="0" err="1">
                <a:solidFill>
                  <a:srgbClr val="1F2A37"/>
                </a:solidFill>
              </a:rPr>
              <a:t>duplikasi</a:t>
            </a:r>
            <a:r>
              <a:rPr lang="en-US" sz="1300" dirty="0">
                <a:solidFill>
                  <a:srgbClr val="1F2A37"/>
                </a:solidFill>
              </a:rPr>
              <a:t> baris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84282518"/>
              </p:ext>
            </p:extLst>
          </p:nvPr>
        </p:nvGraphicFramePr>
        <p:xfrm>
          <a:off x="609600" y="1691640"/>
          <a:ext cx="6643456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54897" y="1691640"/>
            <a:ext cx="4027503" cy="1920240"/>
          </a:xfrm>
          <a:prstGeom prst="roundRect">
            <a:avLst>
              <a:gd name="adj" fmla="val 4762"/>
            </a:avLst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877008" y="18589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AB344"/>
                </a:solidFill>
              </a:rPr>
              <a:t>Growth YoY</a:t>
            </a:r>
            <a:endParaRPr lang="en-US" sz="2000" dirty="0">
              <a:solidFill>
                <a:srgbClr val="DAB344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7807857" y="2224744"/>
            <a:ext cx="357642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-0.50%  →  +0.68%  →  -0.57%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7807857" y="2590504"/>
            <a:ext cx="357642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2021          2022             2023</a:t>
            </a:r>
          </a:p>
        </p:txBody>
      </p:sp>
      <p:sp>
        <p:nvSpPr>
          <p:cNvPr id="9" name="Text 6"/>
          <p:cNvSpPr/>
          <p:nvPr/>
        </p:nvSpPr>
        <p:spPr>
          <a:xfrm>
            <a:off x="7807857" y="2953822"/>
            <a:ext cx="357642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chemeClr val="bg1"/>
                </a:solidFill>
              </a:rPr>
              <a:t>Fluktuasi selalu di bawah 1% - tidak ada tren pertumbuhan yang jelas.</a:t>
            </a:r>
          </a:p>
        </p:txBody>
      </p:sp>
      <p:sp>
        <p:nvSpPr>
          <p:cNvPr id="10" name="Shape 7"/>
          <p:cNvSpPr/>
          <p:nvPr/>
        </p:nvSpPr>
        <p:spPr>
          <a:xfrm>
            <a:off x="7554897" y="3794760"/>
            <a:ext cx="4027503" cy="1920240"/>
          </a:xfrm>
          <a:prstGeom prst="roundRect">
            <a:avLst>
              <a:gd name="adj" fmla="val 4348"/>
            </a:avLst>
          </a:prstGeom>
          <a:solidFill>
            <a:srgbClr val="2622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807857" y="4064197"/>
            <a:ext cx="357642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994A"/>
                </a:solidFill>
              </a:rPr>
              <a:t>Insight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807857" y="4423742"/>
            <a:ext cx="3576423" cy="10156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E4E9F0"/>
                </a:solidFill>
              </a:rPr>
              <a:t>Pendapatan &amp; jumlah transaksi (~168rb/tahun) praktis flat 4 tahun </a:t>
            </a:r>
            <a:r>
              <a:rPr lang="en-US" sz="1300" dirty="0" err="1">
                <a:solidFill>
                  <a:srgbClr val="E4E9F0"/>
                </a:solidFill>
              </a:rPr>
              <a:t>berturut-turut</a:t>
            </a:r>
            <a:r>
              <a:rPr lang="en-US" sz="1300" dirty="0">
                <a:solidFill>
                  <a:srgbClr val="E4E9F0"/>
                </a:solidFill>
              </a:rPr>
              <a:t> - mengindikasikan tidak ada pertumbuhan bisnis organik yang berarti.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08</a:t>
            </a:r>
            <a:endParaRPr lang="en-US" sz="1000" dirty="0"/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1BAD474E-6DCE-5299-7237-6E23433E8EF2}"/>
              </a:ext>
            </a:extLst>
          </p:cNvPr>
          <p:cNvSpPr/>
          <p:nvPr/>
        </p:nvSpPr>
        <p:spPr>
          <a:xfrm>
            <a:off x="528933" y="62157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200" dirty="0">
                <a:solidFill>
                  <a:srgbClr val="F2994A"/>
                </a:solidFill>
                <a:ea typeface="Arial" pitchFamily="34" charset="-122"/>
                <a:cs typeface="Arial" pitchFamily="34" charset="-120"/>
              </a:rPr>
              <a:t>4 - KEY INSIGHT</a:t>
            </a: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2070840D-E779-544D-3A4B-64DF635AE98D}"/>
              </a:ext>
            </a:extLst>
          </p:cNvPr>
          <p:cNvSpPr/>
          <p:nvPr/>
        </p:nvSpPr>
        <p:spPr>
          <a:xfrm>
            <a:off x="505778" y="908874"/>
            <a:ext cx="10515600" cy="3342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262262"/>
                </a:solidFill>
                <a:ea typeface="Arial" pitchFamily="34" charset="-122"/>
                <a:cs typeface="Arial" pitchFamily="34" charset="-120"/>
              </a:rPr>
              <a:t>Pendapatan </a:t>
            </a:r>
            <a:r>
              <a:rPr lang="en-US" sz="2800" b="1" dirty="0" err="1">
                <a:solidFill>
                  <a:srgbClr val="262262"/>
                </a:solidFill>
                <a:ea typeface="Arial" pitchFamily="34" charset="-122"/>
                <a:cs typeface="Arial" pitchFamily="34" charset="-120"/>
              </a:rPr>
              <a:t>Stagnan</a:t>
            </a:r>
            <a:r>
              <a:rPr lang="en-US" sz="2800" b="1" dirty="0">
                <a:solidFill>
                  <a:srgbClr val="262262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>
                <a:solidFill>
                  <a:srgbClr val="262262"/>
                </a:solidFill>
                <a:ea typeface="Arial" pitchFamily="34" charset="-122"/>
                <a:cs typeface="Arial" pitchFamily="34" charset="-120"/>
              </a:rPr>
              <a:t>Sepanjang</a:t>
            </a:r>
            <a:r>
              <a:rPr lang="en-US" sz="2800" b="1" dirty="0">
                <a:solidFill>
                  <a:srgbClr val="262262"/>
                </a:solidFill>
                <a:ea typeface="Arial" pitchFamily="34" charset="-122"/>
                <a:cs typeface="Arial" pitchFamily="34" charset="-120"/>
              </a:rPr>
              <a:t> 2020–2023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020509690"/>
              </p:ext>
            </p:extLst>
          </p:nvPr>
        </p:nvGraphicFramePr>
        <p:xfrm>
          <a:off x="609600" y="1508760"/>
          <a:ext cx="688848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508760"/>
            <a:ext cx="3810000" cy="1600200"/>
          </a:xfrm>
          <a:prstGeom prst="roundRect">
            <a:avLst>
              <a:gd name="adj" fmla="val 5714"/>
            </a:avLst>
          </a:prstGeom>
          <a:solidFill>
            <a:srgbClr val="DAB3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001000" y="16276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Peringkat #1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001000" y="19888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Total Nett Sales</a:t>
            </a:r>
          </a:p>
        </p:txBody>
      </p:sp>
      <p:sp>
        <p:nvSpPr>
          <p:cNvPr id="8" name="Text 5"/>
          <p:cNvSpPr/>
          <p:nvPr/>
        </p:nvSpPr>
        <p:spPr>
          <a:xfrm>
            <a:off x="8001000" y="22860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chemeClr val="bg1"/>
                </a:solidFill>
              </a:rPr>
              <a:t>Tapi peringkat </a:t>
            </a:r>
            <a:r>
              <a:rPr lang="en-US" sz="1300" b="1" dirty="0">
                <a:solidFill>
                  <a:schemeClr val="bg1"/>
                </a:solidFill>
              </a:rPr>
              <a:t>#17 </a:t>
            </a:r>
            <a:r>
              <a:rPr lang="en-US" sz="1300" dirty="0">
                <a:solidFill>
                  <a:schemeClr val="bg1"/>
                </a:solidFill>
              </a:rPr>
              <a:t>dari </a:t>
            </a:r>
            <a:r>
              <a:rPr lang="en-US" sz="1300" b="1" dirty="0">
                <a:solidFill>
                  <a:schemeClr val="bg1"/>
                </a:solidFill>
              </a:rPr>
              <a:t>31</a:t>
            </a:r>
            <a:r>
              <a:rPr lang="en-US" sz="1300" dirty="0">
                <a:solidFill>
                  <a:schemeClr val="bg1"/>
                </a:solidFill>
              </a:rPr>
              <a:t> provinsi bila dilihat dari rata-rata sales per cabang.</a:t>
            </a:r>
          </a:p>
        </p:txBody>
      </p:sp>
      <p:sp>
        <p:nvSpPr>
          <p:cNvPr id="9" name="Shape 6"/>
          <p:cNvSpPr/>
          <p:nvPr/>
        </p:nvSpPr>
        <p:spPr>
          <a:xfrm>
            <a:off x="7772400" y="3227832"/>
            <a:ext cx="3810000" cy="2944368"/>
          </a:xfrm>
          <a:prstGeom prst="roundRect">
            <a:avLst>
              <a:gd name="adj" fmla="val 3636"/>
            </a:avLst>
          </a:prstGeom>
          <a:solidFill>
            <a:srgbClr val="2622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001000" y="33147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AB344"/>
                </a:solidFill>
              </a:rPr>
              <a:t>Insight</a:t>
            </a:r>
            <a:endParaRPr lang="en-US" sz="2000" dirty="0">
              <a:solidFill>
                <a:srgbClr val="DAB344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8001000" y="3634740"/>
            <a:ext cx="33832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4E9F0"/>
                </a:solidFill>
              </a:rPr>
              <a:t>Jawa Barat </a:t>
            </a:r>
            <a:r>
              <a:rPr lang="en-US" sz="1300" dirty="0">
                <a:solidFill>
                  <a:srgbClr val="E4E9F0"/>
                </a:solidFill>
              </a:rPr>
              <a:t>unggul murni karena jumlah cabang terbanyak (</a:t>
            </a:r>
            <a:r>
              <a:rPr lang="en-US" sz="1300" b="1" dirty="0">
                <a:solidFill>
                  <a:srgbClr val="E4E9F0"/>
                </a:solidFill>
              </a:rPr>
              <a:t>510 cabang</a:t>
            </a:r>
            <a:r>
              <a:rPr lang="en-US" sz="1300" dirty="0">
                <a:solidFill>
                  <a:srgbClr val="E4E9F0"/>
                </a:solidFill>
              </a:rPr>
              <a:t>), bukan karena performa per cabang lebih baik. Rata-rata sales per cabang di seluruh provinsi relatif seragam </a:t>
            </a:r>
            <a:r>
              <a:rPr lang="en-US" sz="1300" b="1" dirty="0">
                <a:solidFill>
                  <a:srgbClr val="E4E9F0"/>
                </a:solidFill>
              </a:rPr>
              <a:t>(~Rp187–190 </a:t>
            </a:r>
            <a:r>
              <a:rPr lang="en-US" sz="1300" b="1" dirty="0" err="1">
                <a:solidFill>
                  <a:srgbClr val="E4E9F0"/>
                </a:solidFill>
              </a:rPr>
              <a:t>juta</a:t>
            </a:r>
            <a:r>
              <a:rPr lang="en-US" sz="1300" b="1" dirty="0">
                <a:solidFill>
                  <a:srgbClr val="E4E9F0"/>
                </a:solidFill>
              </a:rPr>
              <a:t>).</a:t>
            </a:r>
          </a:p>
          <a:p>
            <a:pPr marL="0" indent="0" algn="ctr">
              <a:lnSpc>
                <a:spcPct val="130000"/>
              </a:lnSpc>
              <a:buNone/>
            </a:pP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E4E9F0"/>
                </a:solidFill>
              </a:rPr>
              <a:t>Implikasi: </a:t>
            </a:r>
            <a:r>
              <a:rPr lang="en-US" sz="1300" b="1" dirty="0">
                <a:solidFill>
                  <a:srgbClr val="E4E9F0"/>
                </a:solidFill>
              </a:rPr>
              <a:t>ekspansi jumlah cabang di provinsi lain berpotensi memberi kontribusi revenue yang setara.</a:t>
            </a:r>
            <a:endParaRPr lang="en-US" sz="1300" b="1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09</a:t>
            </a:r>
            <a:endParaRPr lang="en-US" sz="1000" dirty="0"/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538D6C70-E7A7-9F0F-B745-D60C7451E226}"/>
              </a:ext>
            </a:extLst>
          </p:cNvPr>
          <p:cNvSpPr/>
          <p:nvPr/>
        </p:nvSpPr>
        <p:spPr>
          <a:xfrm>
            <a:off x="528933" y="62157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200" dirty="0">
                <a:solidFill>
                  <a:srgbClr val="F2994A"/>
                </a:solidFill>
                <a:ea typeface="Arial" pitchFamily="34" charset="-122"/>
                <a:cs typeface="Arial" pitchFamily="34" charset="-120"/>
              </a:rPr>
              <a:t>4 - KEY INSIGHT</a:t>
            </a: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296DE2FD-FBE4-CD1B-9B28-C3860F44EE38}"/>
              </a:ext>
            </a:extLst>
          </p:cNvPr>
          <p:cNvSpPr/>
          <p:nvPr/>
        </p:nvSpPr>
        <p:spPr>
          <a:xfrm>
            <a:off x="505778" y="908874"/>
            <a:ext cx="10515600" cy="3342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262262"/>
                </a:solidFill>
                <a:ea typeface="Arial" pitchFamily="34" charset="-122"/>
                <a:cs typeface="Arial" pitchFamily="34" charset="-120"/>
              </a:rPr>
              <a:t>Dominasi Jawa Barat: Volume, </a:t>
            </a:r>
            <a:r>
              <a:rPr lang="en-US" sz="2800" b="1" dirty="0" err="1">
                <a:solidFill>
                  <a:srgbClr val="262262"/>
                </a:solidFill>
                <a:ea typeface="Arial" pitchFamily="34" charset="-122"/>
                <a:cs typeface="Arial" pitchFamily="34" charset="-120"/>
              </a:rPr>
              <a:t>Bukan</a:t>
            </a:r>
            <a:r>
              <a:rPr lang="en-US" sz="2800" b="1" dirty="0">
                <a:solidFill>
                  <a:srgbClr val="262262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>
                <a:solidFill>
                  <a:srgbClr val="262262"/>
                </a:solidFill>
                <a:ea typeface="Arial" pitchFamily="34" charset="-122"/>
                <a:cs typeface="Arial" pitchFamily="34" charset="-120"/>
              </a:rPr>
              <a:t>Keunggulan</a:t>
            </a:r>
            <a:endParaRPr lang="en-US" sz="2800" b="1" dirty="0">
              <a:solidFill>
                <a:srgbClr val="262262"/>
              </a:solidFill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15087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2262"/>
                </a:solidFill>
              </a:rPr>
              <a:t>Top 5 Cabang - Rating Cabang Sempurna, Rating Transaksi Terendah</a:t>
            </a:r>
            <a:endParaRPr lang="en-US" sz="1300" dirty="0">
              <a:solidFill>
                <a:srgbClr val="262262"/>
              </a:solidFill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300211"/>
              </p:ext>
            </p:extLst>
          </p:nvPr>
        </p:nvGraphicFramePr>
        <p:xfrm>
          <a:off x="609600" y="1874520"/>
          <a:ext cx="6888479" cy="2189762"/>
        </p:xfrm>
        <a:graphic>
          <a:graphicData uri="http://schemas.openxmlformats.org/drawingml/2006/table">
            <a:tbl>
              <a:tblPr/>
              <a:tblGrid>
                <a:gridCol w="1359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0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9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02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82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1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Branch ID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Kota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Rating Cabang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Avg Rating Transaksi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Jml Transaksi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6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21754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Pontianak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5.0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3.97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408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6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35019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Banjarmasin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5.0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3.99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404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6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38172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Pontianak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5.0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4.03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403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6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83104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Bima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5.0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3.97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390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6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94373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Malang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5.0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3.98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394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155722"/>
            <a:ext cx="400412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262"/>
                </a:solidFill>
              </a:rPr>
              <a:t>Korelasi Antar Variabel (Level Cabang)</a:t>
            </a:r>
            <a:endParaRPr lang="en-US" sz="1300" dirty="0">
              <a:solidFill>
                <a:srgbClr val="262262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4521482"/>
            <a:ext cx="3286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262"/>
                </a:solidFill>
              </a:rPr>
              <a:t>rating_cabang </a:t>
            </a:r>
            <a:r>
              <a:rPr lang="en-US" sz="1300" b="1" dirty="0">
                <a:solidFill>
                  <a:srgbClr val="262262"/>
                </a:solidFill>
              </a:rPr>
              <a:t>↔</a:t>
            </a:r>
            <a:r>
              <a:rPr lang="en-US" sz="1300" dirty="0">
                <a:solidFill>
                  <a:srgbClr val="262262"/>
                </a:solidFill>
              </a:rPr>
              <a:t> avg_discount</a:t>
            </a:r>
          </a:p>
        </p:txBody>
      </p:sp>
      <p:sp>
        <p:nvSpPr>
          <p:cNvPr id="8" name="Text 5"/>
          <p:cNvSpPr/>
          <p:nvPr/>
        </p:nvSpPr>
        <p:spPr>
          <a:xfrm>
            <a:off x="3835152" y="4521482"/>
            <a:ext cx="71761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2994A"/>
                </a:solidFill>
              </a:rPr>
              <a:t>-0.0042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4978682"/>
            <a:ext cx="3286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262"/>
                </a:solidFill>
              </a:rPr>
              <a:t>avg_discount </a:t>
            </a:r>
            <a:r>
              <a:rPr lang="en-US" sz="1300" b="1" dirty="0">
                <a:solidFill>
                  <a:srgbClr val="262262"/>
                </a:solidFill>
              </a:rPr>
              <a:t>↔</a:t>
            </a:r>
            <a:r>
              <a:rPr lang="en-US" sz="1300" dirty="0">
                <a:solidFill>
                  <a:srgbClr val="262262"/>
                </a:solidFill>
              </a:rPr>
              <a:t> avg_nett_profit</a:t>
            </a:r>
          </a:p>
        </p:txBody>
      </p:sp>
      <p:sp>
        <p:nvSpPr>
          <p:cNvPr id="10" name="Text 7"/>
          <p:cNvSpPr/>
          <p:nvPr/>
        </p:nvSpPr>
        <p:spPr>
          <a:xfrm>
            <a:off x="3835152" y="4978682"/>
            <a:ext cx="71761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2994A"/>
                </a:solidFill>
              </a:rPr>
              <a:t>-0.0691</a:t>
            </a:r>
            <a:endParaRPr lang="en-US" sz="1300" dirty="0"/>
          </a:p>
        </p:txBody>
      </p:sp>
      <p:sp>
        <p:nvSpPr>
          <p:cNvPr id="5" name="Text 8"/>
          <p:cNvSpPr/>
          <p:nvPr/>
        </p:nvSpPr>
        <p:spPr>
          <a:xfrm>
            <a:off x="548640" y="5435882"/>
            <a:ext cx="3286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262"/>
                </a:solidFill>
              </a:rPr>
              <a:t>rating_cabang </a:t>
            </a:r>
            <a:r>
              <a:rPr lang="en-US" sz="1300" b="1" dirty="0">
                <a:solidFill>
                  <a:srgbClr val="262262"/>
                </a:solidFill>
              </a:rPr>
              <a:t>↔</a:t>
            </a:r>
            <a:r>
              <a:rPr lang="en-US" sz="1300" dirty="0">
                <a:solidFill>
                  <a:srgbClr val="262262"/>
                </a:solidFill>
              </a:rPr>
              <a:t> avg_nett_profit</a:t>
            </a:r>
          </a:p>
        </p:txBody>
      </p:sp>
      <p:sp>
        <p:nvSpPr>
          <p:cNvPr id="12" name="Text 9"/>
          <p:cNvSpPr/>
          <p:nvPr/>
        </p:nvSpPr>
        <p:spPr>
          <a:xfrm>
            <a:off x="3835152" y="5435882"/>
            <a:ext cx="71761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2994A"/>
                </a:solidFill>
              </a:rPr>
              <a:t>0.0126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5893082"/>
            <a:ext cx="3286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262"/>
                </a:solidFill>
              </a:rPr>
              <a:t>rating_cabang </a:t>
            </a:r>
            <a:r>
              <a:rPr lang="en-US" sz="1300" b="1" dirty="0">
                <a:solidFill>
                  <a:srgbClr val="262262"/>
                </a:solidFill>
              </a:rPr>
              <a:t>↔</a:t>
            </a:r>
            <a:r>
              <a:rPr lang="en-US" sz="1300" dirty="0">
                <a:solidFill>
                  <a:srgbClr val="262262"/>
                </a:solidFill>
              </a:rPr>
              <a:t> avg_rating_transaksi</a:t>
            </a:r>
          </a:p>
        </p:txBody>
      </p:sp>
      <p:sp>
        <p:nvSpPr>
          <p:cNvPr id="14" name="Text 11"/>
          <p:cNvSpPr/>
          <p:nvPr/>
        </p:nvSpPr>
        <p:spPr>
          <a:xfrm>
            <a:off x="3835152" y="5893082"/>
            <a:ext cx="71761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2994A"/>
                </a:solidFill>
              </a:rPr>
              <a:t>0.0193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772400" y="1691640"/>
            <a:ext cx="3810000" cy="4480560"/>
          </a:xfrm>
          <a:prstGeom prst="roundRect">
            <a:avLst>
              <a:gd name="adj" fmla="val 2381"/>
            </a:avLst>
          </a:prstGeom>
          <a:solidFill>
            <a:srgbClr val="2622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001000" y="1938545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994A"/>
                </a:solidFill>
              </a:rPr>
              <a:t>Insight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001000" y="2459103"/>
            <a:ext cx="3383280" cy="32208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E4E9F0"/>
                </a:solidFill>
              </a:rPr>
              <a:t>Cabang dengan rating_cabang sempurna (5.0) ternyata memiliki rata-rata rating_transaksi hanya ~3.9 - 4.0 - gap nyata antara reputasi umum &amp; pengalaman transaksi aktual.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E4E9F0"/>
                </a:solidFill>
              </a:rPr>
              <a:t>Seluruh korelasi mendekati nol: </a:t>
            </a:r>
            <a:r>
              <a:rPr lang="en-US" sz="1300" dirty="0" err="1">
                <a:solidFill>
                  <a:srgbClr val="E4E9F0"/>
                </a:solidFill>
              </a:rPr>
              <a:t>diskon</a:t>
            </a:r>
            <a:r>
              <a:rPr lang="en-US" sz="1300" dirty="0">
                <a:solidFill>
                  <a:srgbClr val="E4E9F0"/>
                </a:solidFill>
              </a:rPr>
              <a:t>, rating cabang, dan profit terbukti independen satu sama lain.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E4E9F0"/>
                </a:solidFill>
              </a:rPr>
              <a:t>Rekomendasi: cari faktor lain (kualitas layanan, kecepatan transaksi, stok) untuk menjelaskan variasi rating </a:t>
            </a:r>
            <a:r>
              <a:rPr lang="en-US" sz="1300" dirty="0" err="1">
                <a:solidFill>
                  <a:srgbClr val="E4E9F0"/>
                </a:solidFill>
              </a:rPr>
              <a:t>transaksi</a:t>
            </a:r>
            <a:r>
              <a:rPr lang="en-US" sz="1300" dirty="0">
                <a:solidFill>
                  <a:srgbClr val="E4E9F0"/>
                </a:solidFill>
              </a:rPr>
              <a:t> - bukan </a:t>
            </a:r>
            <a:r>
              <a:rPr lang="en-US" sz="1300" dirty="0" err="1">
                <a:solidFill>
                  <a:srgbClr val="E4E9F0"/>
                </a:solidFill>
              </a:rPr>
              <a:t>diskon</a:t>
            </a:r>
            <a:r>
              <a:rPr lang="en-US" sz="1300" dirty="0">
                <a:solidFill>
                  <a:srgbClr val="E4E9F0"/>
                </a:solidFill>
              </a:rPr>
              <a:t>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10</a:t>
            </a:r>
            <a:endParaRPr lang="en-US" sz="100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E278A12E-1537-365E-102A-C3B0FB3879C3}"/>
              </a:ext>
            </a:extLst>
          </p:cNvPr>
          <p:cNvSpPr/>
          <p:nvPr/>
        </p:nvSpPr>
        <p:spPr>
          <a:xfrm>
            <a:off x="528933" y="62157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200" dirty="0">
                <a:solidFill>
                  <a:srgbClr val="F2994A"/>
                </a:solidFill>
                <a:ea typeface="Arial" pitchFamily="34" charset="-122"/>
                <a:cs typeface="Arial" pitchFamily="34" charset="-120"/>
              </a:rPr>
              <a:t>4 - KEY INSIGHT</a:t>
            </a: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361EBC97-336B-4DCB-3749-AFC54497E551}"/>
              </a:ext>
            </a:extLst>
          </p:cNvPr>
          <p:cNvSpPr/>
          <p:nvPr/>
        </p:nvSpPr>
        <p:spPr>
          <a:xfrm>
            <a:off x="505778" y="908874"/>
            <a:ext cx="10515600" cy="3342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262262"/>
                </a:solidFill>
                <a:ea typeface="Arial" pitchFamily="34" charset="-122"/>
                <a:cs typeface="Arial" pitchFamily="34" charset="-120"/>
              </a:rPr>
              <a:t>Satisfaction Paradox: Rating Cabang ≠ Rating </a:t>
            </a:r>
            <a:r>
              <a:rPr lang="en-US" sz="2800" b="1" dirty="0" err="1">
                <a:solidFill>
                  <a:srgbClr val="262262"/>
                </a:solidFill>
                <a:ea typeface="Arial" pitchFamily="34" charset="-122"/>
                <a:cs typeface="Arial" pitchFamily="34" charset="-120"/>
              </a:rPr>
              <a:t>Transaksi</a:t>
            </a:r>
            <a:endParaRPr lang="en-US" sz="2800" b="1" dirty="0">
              <a:solidFill>
                <a:srgbClr val="262262"/>
              </a:solidFill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044144776"/>
              </p:ext>
            </p:extLst>
          </p:nvPr>
        </p:nvGraphicFramePr>
        <p:xfrm>
          <a:off x="609600" y="1508760"/>
          <a:ext cx="5569258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507480" y="1508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262"/>
                </a:solidFill>
              </a:rPr>
              <a:t>Distribusi Transaksi per Tier Laba</a:t>
            </a:r>
            <a:endParaRPr lang="en-US" sz="1300" dirty="0">
              <a:solidFill>
                <a:srgbClr val="262262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507480" y="1965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262"/>
                </a:solidFill>
              </a:rPr>
              <a:t>10% (≤Rp50rb)</a:t>
            </a:r>
          </a:p>
        </p:txBody>
      </p:sp>
      <p:sp>
        <p:nvSpPr>
          <p:cNvPr id="7" name="Shape 4"/>
          <p:cNvSpPr/>
          <p:nvPr/>
        </p:nvSpPr>
        <p:spPr>
          <a:xfrm>
            <a:off x="8120817" y="2020824"/>
            <a:ext cx="202423" cy="256032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830757" y="1965960"/>
            <a:ext cx="75164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262"/>
                </a:solidFill>
              </a:rPr>
              <a:t>4%</a:t>
            </a:r>
            <a:endParaRPr lang="en-US" sz="1300" dirty="0">
              <a:solidFill>
                <a:srgbClr val="262262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6507480" y="25328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262"/>
                </a:solidFill>
              </a:rPr>
              <a:t>15% (Rp50–100rb)</a:t>
            </a:r>
          </a:p>
        </p:txBody>
      </p:sp>
      <p:sp>
        <p:nvSpPr>
          <p:cNvPr id="10" name="Shape 7"/>
          <p:cNvSpPr/>
          <p:nvPr/>
        </p:nvSpPr>
        <p:spPr>
          <a:xfrm>
            <a:off x="8120817" y="2587752"/>
            <a:ext cx="303634" cy="256032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830757" y="2532888"/>
            <a:ext cx="75164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262"/>
                </a:solidFill>
              </a:rPr>
              <a:t>6%</a:t>
            </a:r>
            <a:endParaRPr lang="en-US" sz="1300" dirty="0">
              <a:solidFill>
                <a:srgbClr val="262262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6507480" y="309981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262"/>
                </a:solidFill>
              </a:rPr>
              <a:t>20% (Rp100–300rb)</a:t>
            </a:r>
          </a:p>
        </p:txBody>
      </p:sp>
      <p:sp>
        <p:nvSpPr>
          <p:cNvPr id="13" name="Shape 10"/>
          <p:cNvSpPr/>
          <p:nvPr/>
        </p:nvSpPr>
        <p:spPr>
          <a:xfrm>
            <a:off x="8120816" y="3154680"/>
            <a:ext cx="774269" cy="256032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830757" y="3099816"/>
            <a:ext cx="75164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262"/>
                </a:solidFill>
              </a:rPr>
              <a:t>15.3%</a:t>
            </a:r>
            <a:endParaRPr lang="en-US" sz="1300" dirty="0">
              <a:solidFill>
                <a:srgbClr val="262262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6507480" y="366674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262"/>
                </a:solidFill>
              </a:rPr>
              <a:t>25% (Rp300–500rb)</a:t>
            </a:r>
          </a:p>
        </p:txBody>
      </p:sp>
      <p:sp>
        <p:nvSpPr>
          <p:cNvPr id="16" name="Shape 13"/>
          <p:cNvSpPr/>
          <p:nvPr/>
        </p:nvSpPr>
        <p:spPr>
          <a:xfrm>
            <a:off x="8120817" y="3721608"/>
            <a:ext cx="1148752" cy="256032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830757" y="3666744"/>
            <a:ext cx="75164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262"/>
                </a:solidFill>
              </a:rPr>
              <a:t>22.7%</a:t>
            </a:r>
            <a:endParaRPr lang="en-US" sz="1300" dirty="0">
              <a:solidFill>
                <a:srgbClr val="262262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6507480" y="42336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262"/>
                </a:solidFill>
              </a:rPr>
              <a:t>30% (&gt;Rp500rb)</a:t>
            </a:r>
          </a:p>
        </p:txBody>
      </p:sp>
      <p:sp>
        <p:nvSpPr>
          <p:cNvPr id="19" name="Shape 16"/>
          <p:cNvSpPr/>
          <p:nvPr/>
        </p:nvSpPr>
        <p:spPr>
          <a:xfrm>
            <a:off x="8120817" y="4288536"/>
            <a:ext cx="2626440" cy="256032"/>
          </a:xfrm>
          <a:prstGeom prst="rect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830757" y="4233672"/>
            <a:ext cx="75164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262"/>
                </a:solidFill>
              </a:rPr>
              <a:t>51.9%</a:t>
            </a:r>
            <a:endParaRPr lang="en-US" sz="1300" dirty="0">
              <a:solidFill>
                <a:srgbClr val="262262"/>
              </a:solidFill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507480" y="5029200"/>
            <a:ext cx="5105400" cy="1152144"/>
          </a:xfrm>
          <a:prstGeom prst="roundRect">
            <a:avLst>
              <a:gd name="adj" fmla="val 6250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710482" y="5120374"/>
            <a:ext cx="4699395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4E9F0"/>
                </a:solidFill>
              </a:rPr>
              <a:t>Insight: mayoritas revenue justru berasal dari obat kebutuhan umum harian (alergi, pereda nyeri, obat tidur) - bukan obat spesialis mahal. Harga tinggi kemungkinan karena satuan kemasan/box.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11</a:t>
            </a:r>
            <a:endParaRPr lang="en-US" sz="1000" dirty="0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A1633059-4A47-69AB-075B-D7CDA588EC76}"/>
              </a:ext>
            </a:extLst>
          </p:cNvPr>
          <p:cNvSpPr/>
          <p:nvPr/>
        </p:nvSpPr>
        <p:spPr>
          <a:xfrm>
            <a:off x="528933" y="62157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200" dirty="0">
                <a:solidFill>
                  <a:srgbClr val="F2994A"/>
                </a:solidFill>
                <a:ea typeface="Arial" pitchFamily="34" charset="-122"/>
                <a:cs typeface="Arial" pitchFamily="34" charset="-120"/>
              </a:rPr>
              <a:t>4 - KEY INSIGHT</a:t>
            </a: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FE355B69-6962-A272-6604-2D0FADF3A517}"/>
              </a:ext>
            </a:extLst>
          </p:cNvPr>
          <p:cNvSpPr/>
          <p:nvPr/>
        </p:nvSpPr>
        <p:spPr>
          <a:xfrm>
            <a:off x="505778" y="908874"/>
            <a:ext cx="10515600" cy="3342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it-IT" sz="2800" b="1" dirty="0">
                <a:solidFill>
                  <a:srgbClr val="262262"/>
                </a:solidFill>
                <a:ea typeface="Arial" pitchFamily="34" charset="-122"/>
                <a:cs typeface="Arial" pitchFamily="34" charset="-120"/>
              </a:rPr>
              <a:t>51,9% Transaksi Berada di Tier Laba Tertinggi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600" y="1380244"/>
            <a:ext cx="5974672" cy="4791947"/>
          </a:xfrm>
          <a:prstGeom prst="roundRect">
            <a:avLst>
              <a:gd name="adj" fmla="val 1121"/>
            </a:avLst>
          </a:prstGeom>
          <a:solidFill>
            <a:srgbClr val="F4F6F8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9281160" y="6309360"/>
            <a:ext cx="2377440" cy="0"/>
          </a:xfrm>
          <a:prstGeom prst="round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12</a:t>
            </a:r>
            <a:endParaRPr lang="en-US" sz="1000" dirty="0"/>
          </a:p>
        </p:txBody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7DC2F646-981D-AF55-8E3D-76D0A87719C7}"/>
              </a:ext>
            </a:extLst>
          </p:cNvPr>
          <p:cNvSpPr/>
          <p:nvPr/>
        </p:nvSpPr>
        <p:spPr>
          <a:xfrm>
            <a:off x="528933" y="62157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200" dirty="0">
                <a:solidFill>
                  <a:srgbClr val="F2994A"/>
                </a:solidFill>
                <a:ea typeface="Arial" pitchFamily="34" charset="-122"/>
                <a:cs typeface="Arial" pitchFamily="34" charset="-120"/>
              </a:rPr>
              <a:t>5 - DELIVERABLE</a:t>
            </a:r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2CB49141-17ED-FDB5-C47F-756CA0C7680B}"/>
              </a:ext>
            </a:extLst>
          </p:cNvPr>
          <p:cNvSpPr/>
          <p:nvPr/>
        </p:nvSpPr>
        <p:spPr>
          <a:xfrm>
            <a:off x="505778" y="908874"/>
            <a:ext cx="10515600" cy="3342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2800" b="1" dirty="0">
                <a:solidFill>
                  <a:srgbClr val="262262"/>
                </a:solidFill>
                <a:ea typeface="Arial" pitchFamily="34" charset="-122"/>
                <a:cs typeface="Arial" pitchFamily="34" charset="-120"/>
              </a:rPr>
              <a:t>Dashboard Performance Analytics (Looker Studio)</a:t>
            </a:r>
            <a:endParaRPr lang="it-IT" sz="2800" b="1" dirty="0">
              <a:solidFill>
                <a:srgbClr val="262262"/>
              </a:solidFill>
              <a:ea typeface="Arial" pitchFamily="34" charset="-122"/>
              <a:cs typeface="Arial" pitchFamily="34" charset="-12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2D861D1-4FCB-CA86-DDE6-6E4E04246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99" y="1486505"/>
            <a:ext cx="5807557" cy="4579435"/>
          </a:xfrm>
          <a:prstGeom prst="rect">
            <a:avLst/>
          </a:prstGeom>
        </p:spPr>
      </p:pic>
      <p:sp>
        <p:nvSpPr>
          <p:cNvPr id="30" name="Shape 5">
            <a:extLst>
              <a:ext uri="{FF2B5EF4-FFF2-40B4-BE49-F238E27FC236}">
                <a16:creationId xmlns:a16="http://schemas.microsoft.com/office/drawing/2014/main" id="{533A2771-2E26-6F80-E141-00EB5BB07EE8}"/>
              </a:ext>
            </a:extLst>
          </p:cNvPr>
          <p:cNvSpPr/>
          <p:nvPr/>
        </p:nvSpPr>
        <p:spPr>
          <a:xfrm>
            <a:off x="6705600" y="5577840"/>
            <a:ext cx="4876800" cy="594360"/>
          </a:xfrm>
          <a:prstGeom prst="roundRect">
            <a:avLst>
              <a:gd name="adj" fmla="val 1467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CABAA1E1-B4AF-B999-E656-707E5208AC4D}"/>
              </a:ext>
            </a:extLst>
          </p:cNvPr>
          <p:cNvSpPr/>
          <p:nvPr/>
        </p:nvSpPr>
        <p:spPr>
          <a:xfrm>
            <a:off x="6834326" y="5706137"/>
            <a:ext cx="46269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6B7280"/>
                </a:solidFill>
              </a:rPr>
              <a:t>[Looker Link Can Access Here for full preview](</a:t>
            </a:r>
            <a:r>
              <a:rPr lang="en-US" sz="1300" i="1" dirty="0">
                <a:solidFill>
                  <a:srgbClr val="6B7280"/>
                </a:solidFill>
                <a:hlinkClick r:id="rId4"/>
              </a:rPr>
              <a:t>Link HERE</a:t>
            </a:r>
            <a:r>
              <a:rPr lang="en-US" sz="1300" i="1" dirty="0">
                <a:solidFill>
                  <a:srgbClr val="6B7280"/>
                </a:solidFill>
              </a:rPr>
              <a:t>)</a:t>
            </a:r>
            <a:endParaRPr lang="en-US" sz="1300" dirty="0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6CB59CBC-5C35-846E-4AD3-251830BF0A5E}"/>
              </a:ext>
            </a:extLst>
          </p:cNvPr>
          <p:cNvSpPr/>
          <p:nvPr/>
        </p:nvSpPr>
        <p:spPr>
          <a:xfrm>
            <a:off x="6705600" y="138024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2262"/>
                </a:solidFill>
              </a:rPr>
              <a:t>Catatan Strategi</a:t>
            </a:r>
            <a:endParaRPr lang="en-US" sz="2000" dirty="0">
              <a:solidFill>
                <a:srgbClr val="262262"/>
              </a:solidFill>
            </a:endParaRPr>
          </a:p>
        </p:txBody>
      </p:sp>
      <p:sp>
        <p:nvSpPr>
          <p:cNvPr id="36" name="Shape 8">
            <a:extLst>
              <a:ext uri="{FF2B5EF4-FFF2-40B4-BE49-F238E27FC236}">
                <a16:creationId xmlns:a16="http://schemas.microsoft.com/office/drawing/2014/main" id="{B8EDC47E-A8B6-76C4-73D6-1EBAB4DDE5D7}"/>
              </a:ext>
            </a:extLst>
          </p:cNvPr>
          <p:cNvSpPr/>
          <p:nvPr/>
        </p:nvSpPr>
        <p:spPr>
          <a:xfrm>
            <a:off x="6802860" y="1954710"/>
            <a:ext cx="91440" cy="9144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D4B10BED-69CB-B3FE-CA00-17BEA81339DE}"/>
              </a:ext>
            </a:extLst>
          </p:cNvPr>
          <p:cNvSpPr/>
          <p:nvPr/>
        </p:nvSpPr>
        <p:spPr>
          <a:xfrm>
            <a:off x="6986728" y="1786497"/>
            <a:ext cx="4595672" cy="387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37"/>
                </a:solidFill>
              </a:rPr>
              <a:t>kf_inventory tidak di-JOIN - tidak ada kolom mandatory dari tabel ini</a:t>
            </a:r>
            <a:endParaRPr lang="en-US" sz="1300" dirty="0"/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ABF7643E-8920-BAB3-B679-355889D127F1}"/>
              </a:ext>
            </a:extLst>
          </p:cNvPr>
          <p:cNvSpPr/>
          <p:nvPr/>
        </p:nvSpPr>
        <p:spPr>
          <a:xfrm>
            <a:off x="6802860" y="2458953"/>
            <a:ext cx="91440" cy="9144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80E74174-952C-6BBD-7145-9544614EE11C}"/>
              </a:ext>
            </a:extLst>
          </p:cNvPr>
          <p:cNvSpPr/>
          <p:nvPr/>
        </p:nvSpPr>
        <p:spPr>
          <a:xfrm>
            <a:off x="6986728" y="2256421"/>
            <a:ext cx="4595672" cy="4771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37"/>
                </a:solidFill>
              </a:rPr>
              <a:t>Kolom date </a:t>
            </a:r>
            <a:r>
              <a:rPr lang="en-US" sz="1300" dirty="0" err="1">
                <a:solidFill>
                  <a:srgbClr val="1F2A37"/>
                </a:solidFill>
              </a:rPr>
              <a:t>disimpan</a:t>
            </a:r>
            <a:r>
              <a:rPr lang="en-US" sz="1300" dirty="0">
                <a:solidFill>
                  <a:srgbClr val="1F2A37"/>
                </a:solidFill>
              </a:rPr>
              <a:t> STRING </a:t>
            </a:r>
            <a:r>
              <a:rPr lang="en-US" sz="1300" dirty="0" err="1">
                <a:solidFill>
                  <a:srgbClr val="1F2A37"/>
                </a:solidFill>
              </a:rPr>
              <a:t>saat</a:t>
            </a:r>
            <a:r>
              <a:rPr lang="en-US" sz="1300" dirty="0">
                <a:solidFill>
                  <a:srgbClr val="1F2A37"/>
                </a:solidFill>
              </a:rPr>
              <a:t> import, di-parse </a:t>
            </a:r>
            <a:r>
              <a:rPr lang="en-US" sz="1300" dirty="0" err="1">
                <a:solidFill>
                  <a:srgbClr val="1F2A37"/>
                </a:solidFill>
              </a:rPr>
              <a:t>eksplisit</a:t>
            </a:r>
            <a:r>
              <a:rPr lang="en-US" sz="1300" dirty="0">
                <a:solidFill>
                  <a:srgbClr val="1F2A37"/>
                </a:solidFill>
              </a:rPr>
              <a:t> via PARSE_DATE</a:t>
            </a:r>
          </a:p>
        </p:txBody>
      </p:sp>
      <p:sp>
        <p:nvSpPr>
          <p:cNvPr id="44" name="Shape 8">
            <a:extLst>
              <a:ext uri="{FF2B5EF4-FFF2-40B4-BE49-F238E27FC236}">
                <a16:creationId xmlns:a16="http://schemas.microsoft.com/office/drawing/2014/main" id="{73F1575E-FA3E-C6C2-B8D0-2E18EB772846}"/>
              </a:ext>
            </a:extLst>
          </p:cNvPr>
          <p:cNvSpPr/>
          <p:nvPr/>
        </p:nvSpPr>
        <p:spPr>
          <a:xfrm>
            <a:off x="6802860" y="3050129"/>
            <a:ext cx="91440" cy="9144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4DBF43CB-F456-4B74-9B06-20087E869148}"/>
              </a:ext>
            </a:extLst>
          </p:cNvPr>
          <p:cNvSpPr/>
          <p:nvPr/>
        </p:nvSpPr>
        <p:spPr>
          <a:xfrm>
            <a:off x="6986728" y="2876355"/>
            <a:ext cx="4595672" cy="398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 err="1">
                <a:solidFill>
                  <a:srgbClr val="1F2A37"/>
                </a:solidFill>
              </a:rPr>
              <a:t>branch_id</a:t>
            </a:r>
            <a:r>
              <a:rPr lang="en-US" sz="1300" dirty="0">
                <a:solidFill>
                  <a:srgbClr val="1F2A37"/>
                </a:solidFill>
              </a:rPr>
              <a:t> &amp; </a:t>
            </a:r>
            <a:r>
              <a:rPr lang="en-US" sz="1300" dirty="0" err="1">
                <a:solidFill>
                  <a:srgbClr val="1F2A37"/>
                </a:solidFill>
              </a:rPr>
              <a:t>product_id</a:t>
            </a:r>
            <a:r>
              <a:rPr lang="en-US" sz="1300" dirty="0">
                <a:solidFill>
                  <a:srgbClr val="1F2A37"/>
                </a:solidFill>
              </a:rPr>
              <a:t> </a:t>
            </a:r>
            <a:r>
              <a:rPr lang="en-US" sz="1300" dirty="0" err="1">
                <a:solidFill>
                  <a:srgbClr val="1F2A37"/>
                </a:solidFill>
              </a:rPr>
              <a:t>tervalidasi</a:t>
            </a:r>
            <a:r>
              <a:rPr lang="en-US" sz="1300" dirty="0">
                <a:solidFill>
                  <a:srgbClr val="1F2A37"/>
                </a:solidFill>
              </a:rPr>
              <a:t> </a:t>
            </a:r>
            <a:r>
              <a:rPr lang="en-US" sz="1300" dirty="0" err="1">
                <a:solidFill>
                  <a:srgbClr val="1F2A37"/>
                </a:solidFill>
              </a:rPr>
              <a:t>unik</a:t>
            </a:r>
            <a:r>
              <a:rPr lang="en-US" sz="1300" dirty="0">
                <a:solidFill>
                  <a:srgbClr val="1F2A37"/>
                </a:solidFill>
              </a:rPr>
              <a:t> - JOIN </a:t>
            </a:r>
            <a:r>
              <a:rPr lang="en-US" sz="1300" dirty="0" err="1">
                <a:solidFill>
                  <a:srgbClr val="1F2A37"/>
                </a:solidFill>
              </a:rPr>
              <a:t>aman</a:t>
            </a:r>
            <a:r>
              <a:rPr lang="en-US" sz="1300" dirty="0">
                <a:solidFill>
                  <a:srgbClr val="1F2A37"/>
                </a:solidFill>
              </a:rPr>
              <a:t> </a:t>
            </a:r>
            <a:r>
              <a:rPr lang="en-US" sz="1300" dirty="0" err="1">
                <a:solidFill>
                  <a:srgbClr val="1F2A37"/>
                </a:solidFill>
              </a:rPr>
              <a:t>tanpa</a:t>
            </a:r>
            <a:r>
              <a:rPr lang="en-US" sz="1300" dirty="0">
                <a:solidFill>
                  <a:srgbClr val="1F2A37"/>
                </a:solidFill>
              </a:rPr>
              <a:t> </a:t>
            </a:r>
            <a:r>
              <a:rPr lang="en-US" sz="1300" dirty="0" err="1">
                <a:solidFill>
                  <a:srgbClr val="1F2A37"/>
                </a:solidFill>
              </a:rPr>
              <a:t>duplikasi</a:t>
            </a:r>
            <a:r>
              <a:rPr lang="en-US" sz="1300" dirty="0">
                <a:solidFill>
                  <a:srgbClr val="1F2A37"/>
                </a:solidFill>
              </a:rPr>
              <a:t> baris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6400800" y="-538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5994" y="3436889"/>
            <a:ext cx="5159146" cy="1544715"/>
          </a:xfrm>
          <a:prstGeom prst="roundRect">
            <a:avLst>
              <a:gd name="adj" fmla="val 4255"/>
            </a:avLst>
          </a:prstGeom>
          <a:solidFill>
            <a:srgbClr val="2622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78443" y="3647157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AB3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78443" y="3647157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95663" y="3667709"/>
            <a:ext cx="39345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Perbaikan Kualitas Layanan Harian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978443" y="4150077"/>
            <a:ext cx="4551803" cy="67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bg1"/>
                </a:solidFill>
              </a:rPr>
              <a:t>Selidiki 5 cabang dengan “satisfaction paradox” sebagai studi kasus perbaikan pengalaman transaksi pelanggan.</a:t>
            </a:r>
          </a:p>
        </p:txBody>
      </p:sp>
      <p:sp>
        <p:nvSpPr>
          <p:cNvPr id="21" name="Text 19"/>
          <p:cNvSpPr/>
          <p:nvPr/>
        </p:nvSpPr>
        <p:spPr>
          <a:xfrm>
            <a:off x="8846820" y="-6629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13</a:t>
            </a:r>
            <a:endParaRPr lang="en-US" sz="1000" dirty="0"/>
          </a:p>
        </p:txBody>
      </p:sp>
      <p:sp>
        <p:nvSpPr>
          <p:cNvPr id="26" name="Text 0">
            <a:extLst>
              <a:ext uri="{FF2B5EF4-FFF2-40B4-BE49-F238E27FC236}">
                <a16:creationId xmlns:a16="http://schemas.microsoft.com/office/drawing/2014/main" id="{44BE1A54-1171-4FC7-3CFA-0731845BA230}"/>
              </a:ext>
            </a:extLst>
          </p:cNvPr>
          <p:cNvSpPr/>
          <p:nvPr/>
        </p:nvSpPr>
        <p:spPr>
          <a:xfrm>
            <a:off x="528933" y="62157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200" dirty="0">
                <a:solidFill>
                  <a:srgbClr val="F2994A"/>
                </a:solidFill>
                <a:ea typeface="Arial" pitchFamily="34" charset="-122"/>
                <a:cs typeface="Arial" pitchFamily="34" charset="-120"/>
              </a:rPr>
              <a:t>6 - BUSINESS RECOMMENDATION</a:t>
            </a:r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5C0E097E-B897-61D4-E623-B5C5C5F75E5A}"/>
              </a:ext>
            </a:extLst>
          </p:cNvPr>
          <p:cNvSpPr/>
          <p:nvPr/>
        </p:nvSpPr>
        <p:spPr>
          <a:xfrm>
            <a:off x="505778" y="908874"/>
            <a:ext cx="10515600" cy="3342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2800" b="1" dirty="0" err="1">
                <a:solidFill>
                  <a:srgbClr val="262262"/>
                </a:solidFill>
                <a:ea typeface="Arial" pitchFamily="34" charset="-122"/>
                <a:cs typeface="Arial" pitchFamily="34" charset="-120"/>
              </a:rPr>
              <a:t>Rekomendasi</a:t>
            </a:r>
            <a:r>
              <a:rPr lang="en-GB" sz="2800" b="1" dirty="0">
                <a:solidFill>
                  <a:srgbClr val="262262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GB" sz="2800" b="1" dirty="0" err="1">
                <a:solidFill>
                  <a:srgbClr val="262262"/>
                </a:solidFill>
                <a:ea typeface="Arial" pitchFamily="34" charset="-122"/>
                <a:cs typeface="Arial" pitchFamily="34" charset="-120"/>
              </a:rPr>
              <a:t>Strategis</a:t>
            </a:r>
            <a:endParaRPr lang="en-GB" sz="2800" b="1" dirty="0">
              <a:solidFill>
                <a:srgbClr val="262262"/>
              </a:solidFill>
              <a:ea typeface="Arial" pitchFamily="34" charset="-122"/>
              <a:cs typeface="Arial" pitchFamily="34" charset="-120"/>
            </a:endParaRPr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50865EC1-0978-475B-4B2A-128461718E46}"/>
              </a:ext>
            </a:extLst>
          </p:cNvPr>
          <p:cNvSpPr/>
          <p:nvPr/>
        </p:nvSpPr>
        <p:spPr>
          <a:xfrm>
            <a:off x="6256861" y="3436889"/>
            <a:ext cx="5157899" cy="1544715"/>
          </a:xfrm>
          <a:prstGeom prst="roundRect">
            <a:avLst>
              <a:gd name="adj" fmla="val 4255"/>
            </a:avLst>
          </a:prstGeom>
          <a:solidFill>
            <a:srgbClr val="2622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E2C84727-F2D2-02A8-7478-D648E4A86CE5}"/>
              </a:ext>
            </a:extLst>
          </p:cNvPr>
          <p:cNvSpPr/>
          <p:nvPr/>
        </p:nvSpPr>
        <p:spPr>
          <a:xfrm>
            <a:off x="6459310" y="3647157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AB3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A1F55325-A2E8-3EB1-F8DD-D62C47914ACB}"/>
              </a:ext>
            </a:extLst>
          </p:cNvPr>
          <p:cNvSpPr/>
          <p:nvPr/>
        </p:nvSpPr>
        <p:spPr>
          <a:xfrm>
            <a:off x="6459310" y="3647157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077154B6-A77A-251E-1323-5BD2D0DCFCEF}"/>
              </a:ext>
            </a:extLst>
          </p:cNvPr>
          <p:cNvSpPr/>
          <p:nvPr/>
        </p:nvSpPr>
        <p:spPr>
          <a:xfrm>
            <a:off x="7076530" y="3667709"/>
            <a:ext cx="39345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Evaluasi Performa DKI Jakarta</a:t>
            </a:r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8751BA3A-51A8-5BA1-EE67-00CFEF495628}"/>
              </a:ext>
            </a:extLst>
          </p:cNvPr>
          <p:cNvSpPr/>
          <p:nvPr/>
        </p:nvSpPr>
        <p:spPr>
          <a:xfrm>
            <a:off x="6459310" y="4150077"/>
            <a:ext cx="4551803" cy="67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bg1"/>
                </a:solidFill>
              </a:rPr>
              <a:t>Profit Jakarta </a:t>
            </a:r>
            <a:r>
              <a:rPr lang="en-US" sz="1300" dirty="0" err="1">
                <a:solidFill>
                  <a:schemeClr val="bg1"/>
                </a:solidFill>
              </a:rPr>
              <a:t>relatif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rendah</a:t>
            </a:r>
            <a:r>
              <a:rPr lang="en-US" sz="1300" dirty="0">
                <a:solidFill>
                  <a:schemeClr val="bg1"/>
                </a:solidFill>
              </a:rPr>
              <a:t> (</a:t>
            </a:r>
            <a:r>
              <a:rPr lang="en-US" sz="1300" dirty="0" err="1">
                <a:solidFill>
                  <a:schemeClr val="bg1"/>
                </a:solidFill>
              </a:rPr>
              <a:t>peringkat</a:t>
            </a:r>
            <a:r>
              <a:rPr lang="en-US" sz="1300" dirty="0">
                <a:solidFill>
                  <a:schemeClr val="bg1"/>
                </a:solidFill>
              </a:rPr>
              <a:t> #23 </a:t>
            </a:r>
            <a:r>
              <a:rPr lang="en-US" sz="1300" dirty="0" err="1">
                <a:solidFill>
                  <a:schemeClr val="bg1"/>
                </a:solidFill>
              </a:rPr>
              <a:t>dari</a:t>
            </a:r>
            <a:r>
              <a:rPr lang="en-US" sz="1300" dirty="0">
                <a:solidFill>
                  <a:schemeClr val="bg1"/>
                </a:solidFill>
              </a:rPr>
              <a:t> 31) </a:t>
            </a:r>
            <a:r>
              <a:rPr lang="en-US" sz="1300" dirty="0" err="1">
                <a:solidFill>
                  <a:schemeClr val="bg1"/>
                </a:solidFill>
              </a:rPr>
              <a:t>meski</a:t>
            </a:r>
            <a:r>
              <a:rPr lang="en-US" sz="1300" dirty="0">
                <a:solidFill>
                  <a:schemeClr val="bg1"/>
                </a:solidFill>
              </a:rPr>
              <a:t> pasar </a:t>
            </a:r>
            <a:r>
              <a:rPr lang="en-US" sz="1300" dirty="0" err="1">
                <a:solidFill>
                  <a:schemeClr val="bg1"/>
                </a:solidFill>
              </a:rPr>
              <a:t>berpotensi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besar</a:t>
            </a:r>
            <a:r>
              <a:rPr lang="en-US" sz="1300" dirty="0">
                <a:solidFill>
                  <a:schemeClr val="bg1"/>
                </a:solidFill>
              </a:rPr>
              <a:t> - </a:t>
            </a:r>
            <a:r>
              <a:rPr lang="en-US" sz="1300" dirty="0" err="1">
                <a:solidFill>
                  <a:schemeClr val="bg1"/>
                </a:solidFill>
              </a:rPr>
              <a:t>perlu</a:t>
            </a:r>
            <a:r>
              <a:rPr lang="en-US" sz="1300" dirty="0">
                <a:solidFill>
                  <a:schemeClr val="bg1"/>
                </a:solidFill>
              </a:rPr>
              <a:t> audit </a:t>
            </a:r>
            <a:r>
              <a:rPr lang="en-US" sz="1300" dirty="0" err="1">
                <a:solidFill>
                  <a:schemeClr val="bg1"/>
                </a:solidFill>
              </a:rPr>
              <a:t>operasional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lebih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lanjut</a:t>
            </a:r>
            <a:r>
              <a:rPr lang="en-US" sz="13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4" name="Shape 12">
            <a:extLst>
              <a:ext uri="{FF2B5EF4-FFF2-40B4-BE49-F238E27FC236}">
                <a16:creationId xmlns:a16="http://schemas.microsoft.com/office/drawing/2014/main" id="{5F7E536E-4044-D39D-F36B-7BA82C71D931}"/>
              </a:ext>
            </a:extLst>
          </p:cNvPr>
          <p:cNvSpPr/>
          <p:nvPr/>
        </p:nvSpPr>
        <p:spPr>
          <a:xfrm>
            <a:off x="6256861" y="1530385"/>
            <a:ext cx="5157899" cy="1675684"/>
          </a:xfrm>
          <a:prstGeom prst="roundRect">
            <a:avLst>
              <a:gd name="adj" fmla="val 4255"/>
            </a:avLst>
          </a:prstGeom>
          <a:solidFill>
            <a:srgbClr val="2622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3E693072-FB6E-0640-A6A7-5A320390CEC4}"/>
              </a:ext>
            </a:extLst>
          </p:cNvPr>
          <p:cNvSpPr/>
          <p:nvPr/>
        </p:nvSpPr>
        <p:spPr>
          <a:xfrm>
            <a:off x="6459310" y="1740653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AB3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81AFD1F4-F75F-7F97-2940-4AA9DF75341F}"/>
              </a:ext>
            </a:extLst>
          </p:cNvPr>
          <p:cNvSpPr/>
          <p:nvPr/>
        </p:nvSpPr>
        <p:spPr>
          <a:xfrm>
            <a:off x="6459310" y="1740653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27701F2A-D96F-DA2E-889D-5A84DC75D057}"/>
              </a:ext>
            </a:extLst>
          </p:cNvPr>
          <p:cNvSpPr/>
          <p:nvPr/>
        </p:nvSpPr>
        <p:spPr>
          <a:xfrm>
            <a:off x="7076530" y="1761205"/>
            <a:ext cx="41370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Investigasi Faktor Rating Non-</a:t>
            </a:r>
            <a:r>
              <a:rPr lang="en-US" sz="2000" b="1" dirty="0" err="1">
                <a:solidFill>
                  <a:schemeClr val="bg1"/>
                </a:solidFill>
              </a:rPr>
              <a:t>Diskon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04684C13-AC0A-110F-273E-2B4F47AF4940}"/>
              </a:ext>
            </a:extLst>
          </p:cNvPr>
          <p:cNvSpPr/>
          <p:nvPr/>
        </p:nvSpPr>
        <p:spPr>
          <a:xfrm>
            <a:off x="6459310" y="2335456"/>
            <a:ext cx="4551803" cy="67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bg1"/>
                </a:solidFill>
              </a:rPr>
              <a:t>Diskon </a:t>
            </a:r>
            <a:r>
              <a:rPr lang="en-US" sz="1300" dirty="0" err="1">
                <a:solidFill>
                  <a:schemeClr val="bg1"/>
                </a:solidFill>
              </a:rPr>
              <a:t>terbukti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tidak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memengaruhi</a:t>
            </a:r>
            <a:r>
              <a:rPr lang="en-US" sz="1300" dirty="0">
                <a:solidFill>
                  <a:schemeClr val="bg1"/>
                </a:solidFill>
              </a:rPr>
              <a:t> rating </a:t>
            </a:r>
            <a:r>
              <a:rPr lang="en-US" sz="1300" dirty="0" err="1">
                <a:solidFill>
                  <a:schemeClr val="bg1"/>
                </a:solidFill>
              </a:rPr>
              <a:t>maupun</a:t>
            </a:r>
            <a:r>
              <a:rPr lang="en-US" sz="1300" dirty="0">
                <a:solidFill>
                  <a:schemeClr val="bg1"/>
                </a:solidFill>
              </a:rPr>
              <a:t> profit. Gali </a:t>
            </a:r>
            <a:r>
              <a:rPr lang="en-US" sz="1300" dirty="0" err="1">
                <a:solidFill>
                  <a:schemeClr val="bg1"/>
                </a:solidFill>
              </a:rPr>
              <a:t>faktor</a:t>
            </a:r>
            <a:r>
              <a:rPr lang="en-US" sz="1300" dirty="0">
                <a:solidFill>
                  <a:schemeClr val="bg1"/>
                </a:solidFill>
              </a:rPr>
              <a:t> lain: </a:t>
            </a:r>
            <a:r>
              <a:rPr lang="en-US" sz="1300" dirty="0" err="1">
                <a:solidFill>
                  <a:schemeClr val="bg1"/>
                </a:solidFill>
              </a:rPr>
              <a:t>kualitas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layanan</a:t>
            </a:r>
            <a:r>
              <a:rPr lang="en-US" sz="1300" dirty="0">
                <a:solidFill>
                  <a:schemeClr val="bg1"/>
                </a:solidFill>
              </a:rPr>
              <a:t>, </a:t>
            </a:r>
            <a:r>
              <a:rPr lang="en-US" sz="1300" dirty="0" err="1">
                <a:solidFill>
                  <a:schemeClr val="bg1"/>
                </a:solidFill>
              </a:rPr>
              <a:t>kecepatan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transaksi</a:t>
            </a:r>
            <a:r>
              <a:rPr lang="en-US" sz="1300" dirty="0">
                <a:solidFill>
                  <a:schemeClr val="bg1"/>
                </a:solidFill>
              </a:rPr>
              <a:t>, </a:t>
            </a:r>
            <a:r>
              <a:rPr lang="en-US" sz="1300" dirty="0" err="1">
                <a:solidFill>
                  <a:schemeClr val="bg1"/>
                </a:solidFill>
              </a:rPr>
              <a:t>kelengkapan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stok</a:t>
            </a:r>
            <a:r>
              <a:rPr lang="en-US" sz="13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9" name="Shape 12">
            <a:extLst>
              <a:ext uri="{FF2B5EF4-FFF2-40B4-BE49-F238E27FC236}">
                <a16:creationId xmlns:a16="http://schemas.microsoft.com/office/drawing/2014/main" id="{87DF8FF2-A8B3-EBC0-C68D-40D4F72DB411}"/>
              </a:ext>
            </a:extLst>
          </p:cNvPr>
          <p:cNvSpPr/>
          <p:nvPr/>
        </p:nvSpPr>
        <p:spPr>
          <a:xfrm>
            <a:off x="777241" y="1530385"/>
            <a:ext cx="5157899" cy="1675684"/>
          </a:xfrm>
          <a:prstGeom prst="roundRect">
            <a:avLst>
              <a:gd name="adj" fmla="val 4255"/>
            </a:avLst>
          </a:prstGeom>
          <a:solidFill>
            <a:srgbClr val="2622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13">
            <a:extLst>
              <a:ext uri="{FF2B5EF4-FFF2-40B4-BE49-F238E27FC236}">
                <a16:creationId xmlns:a16="http://schemas.microsoft.com/office/drawing/2014/main" id="{910293CE-E7E1-0194-9CE6-8CAC0B0C92EE}"/>
              </a:ext>
            </a:extLst>
          </p:cNvPr>
          <p:cNvSpPr/>
          <p:nvPr/>
        </p:nvSpPr>
        <p:spPr>
          <a:xfrm>
            <a:off x="979690" y="1740653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AB3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4CB6BB79-F071-AFBF-38C5-7E4628A2F582}"/>
              </a:ext>
            </a:extLst>
          </p:cNvPr>
          <p:cNvSpPr/>
          <p:nvPr/>
        </p:nvSpPr>
        <p:spPr>
          <a:xfrm>
            <a:off x="979690" y="1740653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ECAB8F07-BD0F-7A3B-5C0C-7A388E6BDD79}"/>
              </a:ext>
            </a:extLst>
          </p:cNvPr>
          <p:cNvSpPr/>
          <p:nvPr/>
        </p:nvSpPr>
        <p:spPr>
          <a:xfrm>
            <a:off x="1596910" y="1761205"/>
            <a:ext cx="41370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chemeClr val="bg1"/>
                </a:solidFill>
              </a:rPr>
              <a:t>Ekspansi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Jumlah</a:t>
            </a:r>
            <a:r>
              <a:rPr lang="en-US" sz="2000" b="1" dirty="0">
                <a:solidFill>
                  <a:schemeClr val="bg1"/>
                </a:solidFill>
              </a:rPr>
              <a:t> Cabang</a:t>
            </a:r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C56E62D6-F2D3-AB82-8892-DDBD1099EEBA}"/>
              </a:ext>
            </a:extLst>
          </p:cNvPr>
          <p:cNvSpPr/>
          <p:nvPr/>
        </p:nvSpPr>
        <p:spPr>
          <a:xfrm>
            <a:off x="979690" y="2335456"/>
            <a:ext cx="4551803" cy="67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 err="1">
                <a:solidFill>
                  <a:schemeClr val="bg1"/>
                </a:solidFill>
              </a:rPr>
              <a:t>Tambah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cabang</a:t>
            </a:r>
            <a:r>
              <a:rPr lang="en-US" sz="1300" dirty="0">
                <a:solidFill>
                  <a:schemeClr val="bg1"/>
                </a:solidFill>
              </a:rPr>
              <a:t> di </a:t>
            </a:r>
            <a:r>
              <a:rPr lang="en-US" sz="1300" dirty="0" err="1">
                <a:solidFill>
                  <a:schemeClr val="bg1"/>
                </a:solidFill>
              </a:rPr>
              <a:t>provinsi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dengan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jumlah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cabang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masih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sedikit</a:t>
            </a:r>
            <a:r>
              <a:rPr lang="en-US" sz="1300" dirty="0">
                <a:solidFill>
                  <a:schemeClr val="bg1"/>
                </a:solidFill>
              </a:rPr>
              <a:t> - </a:t>
            </a:r>
            <a:r>
              <a:rPr lang="en-US" sz="1300" dirty="0" err="1">
                <a:solidFill>
                  <a:schemeClr val="bg1"/>
                </a:solidFill>
              </a:rPr>
              <a:t>kontribusi</a:t>
            </a:r>
            <a:r>
              <a:rPr lang="en-US" sz="1300" dirty="0">
                <a:solidFill>
                  <a:schemeClr val="bg1"/>
                </a:solidFill>
              </a:rPr>
              <a:t> rata-rata per </a:t>
            </a:r>
            <a:r>
              <a:rPr lang="en-US" sz="1300" dirty="0" err="1">
                <a:solidFill>
                  <a:schemeClr val="bg1"/>
                </a:solidFill>
              </a:rPr>
              <a:t>cabang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terbukti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seragam</a:t>
            </a:r>
            <a:r>
              <a:rPr lang="en-US" sz="1300" dirty="0">
                <a:solidFill>
                  <a:schemeClr val="bg1"/>
                </a:solidFill>
              </a:rPr>
              <a:t> di </a:t>
            </a:r>
            <a:r>
              <a:rPr lang="en-US" sz="1300" dirty="0" err="1">
                <a:solidFill>
                  <a:schemeClr val="bg1"/>
                </a:solidFill>
              </a:rPr>
              <a:t>seluruh</a:t>
            </a:r>
            <a:r>
              <a:rPr lang="en-US" sz="1300" dirty="0">
                <a:solidFill>
                  <a:schemeClr val="bg1"/>
                </a:solidFill>
              </a:rPr>
              <a:t> Indonesia</a:t>
            </a:r>
          </a:p>
        </p:txBody>
      </p:sp>
      <p:sp>
        <p:nvSpPr>
          <p:cNvPr id="45" name="Shape 1">
            <a:extLst>
              <a:ext uri="{FF2B5EF4-FFF2-40B4-BE49-F238E27FC236}">
                <a16:creationId xmlns:a16="http://schemas.microsoft.com/office/drawing/2014/main" id="{5E171A56-FC8D-C316-2F31-2454C19338D7}"/>
              </a:ext>
            </a:extLst>
          </p:cNvPr>
          <p:cNvSpPr/>
          <p:nvPr/>
        </p:nvSpPr>
        <p:spPr>
          <a:xfrm>
            <a:off x="10789920" y="5212424"/>
            <a:ext cx="3108960" cy="310896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>
            <a:extLst>
              <a:ext uri="{FF2B5EF4-FFF2-40B4-BE49-F238E27FC236}">
                <a16:creationId xmlns:a16="http://schemas.microsoft.com/office/drawing/2014/main" id="{916085D4-35DA-FE5C-CDAC-52DB8AC67566}"/>
              </a:ext>
            </a:extLst>
          </p:cNvPr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48344957-DEB7-C36B-EEC5-1F0D292D1454}"/>
              </a:ext>
            </a:extLst>
          </p:cNvPr>
          <p:cNvSpPr/>
          <p:nvPr/>
        </p:nvSpPr>
        <p:spPr>
          <a:xfrm>
            <a:off x="10607040" y="4937760"/>
            <a:ext cx="2377440" cy="23774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10F035C2-259E-D1FC-5C9C-0F178AE93FD9}"/>
              </a:ext>
            </a:extLst>
          </p:cNvPr>
          <p:cNvSpPr/>
          <p:nvPr/>
        </p:nvSpPr>
        <p:spPr>
          <a:xfrm>
            <a:off x="504678" y="406075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chemeClr val="bg1"/>
                </a:solidFill>
              </a:rPr>
              <a:t>LINKEDIN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BA728772-BAA8-7E9E-4F92-A276A2888E08}"/>
              </a:ext>
            </a:extLst>
          </p:cNvPr>
          <p:cNvSpPr/>
          <p:nvPr/>
        </p:nvSpPr>
        <p:spPr>
          <a:xfrm>
            <a:off x="1739117" y="4060750"/>
            <a:ext cx="38715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chemeClr val="bg1"/>
                </a:solidFill>
              </a:rPr>
              <a:t>Personal link can access here (</a:t>
            </a:r>
            <a:r>
              <a:rPr lang="en-US" sz="1300" b="1" dirty="0">
                <a:solidFill>
                  <a:srgbClr val="DAB344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Here</a:t>
            </a:r>
            <a:r>
              <a:rPr lang="en-US" sz="1300" b="1" dirty="0">
                <a:solidFill>
                  <a:schemeClr val="bg1"/>
                </a:solidFill>
              </a:rPr>
              <a:t> )</a:t>
            </a:r>
            <a:endParaRPr lang="en-US" sz="1300" b="1" dirty="0">
              <a:solidFill>
                <a:srgbClr val="DAB344"/>
              </a:solidFill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D95ED47F-A19A-690E-144F-BAE581715A52}"/>
              </a:ext>
            </a:extLst>
          </p:cNvPr>
          <p:cNvSpPr/>
          <p:nvPr/>
        </p:nvSpPr>
        <p:spPr>
          <a:xfrm>
            <a:off x="504678" y="4421495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chemeClr val="bg1"/>
                </a:solidFill>
              </a:rPr>
              <a:t>GITHUB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9CA01880-B517-73EE-9BC0-54D540E7A048}"/>
              </a:ext>
            </a:extLst>
          </p:cNvPr>
          <p:cNvSpPr/>
          <p:nvPr/>
        </p:nvSpPr>
        <p:spPr>
          <a:xfrm>
            <a:off x="1739118" y="4421495"/>
            <a:ext cx="387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chemeClr val="bg1"/>
                </a:solidFill>
              </a:rPr>
              <a:t>Repo link can access here for full code (</a:t>
            </a:r>
            <a:r>
              <a:rPr lang="en-US" sz="1300" b="1" dirty="0">
                <a:solidFill>
                  <a:srgbClr val="DAB344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Here</a:t>
            </a:r>
            <a:r>
              <a:rPr lang="en-US" sz="1300" b="1" dirty="0">
                <a:solidFill>
                  <a:schemeClr val="bg1"/>
                </a:solidFill>
              </a:rPr>
              <a:t> )</a:t>
            </a:r>
            <a:endParaRPr lang="en-US" sz="1300" b="1" dirty="0">
              <a:solidFill>
                <a:srgbClr val="DAB344"/>
              </a:solidFill>
            </a:endParaRPr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4ACC8C30-72A1-15F4-F0EB-67D91C7B53D0}"/>
              </a:ext>
            </a:extLst>
          </p:cNvPr>
          <p:cNvSpPr/>
          <p:nvPr/>
        </p:nvSpPr>
        <p:spPr>
          <a:xfrm>
            <a:off x="609600" y="3948209"/>
            <a:ext cx="1097280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BF40B5A8-6DE2-EE63-DB2E-8F6756470885}"/>
              </a:ext>
            </a:extLst>
          </p:cNvPr>
          <p:cNvSpPr/>
          <p:nvPr/>
        </p:nvSpPr>
        <p:spPr>
          <a:xfrm>
            <a:off x="533548" y="1798446"/>
            <a:ext cx="8686800" cy="1630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400" b="1" dirty="0">
                <a:solidFill>
                  <a:schemeClr val="bg1"/>
                </a:solidFill>
              </a:rPr>
              <a:t>THANK YOU</a:t>
            </a:r>
          </a:p>
          <a:p>
            <a:r>
              <a:rPr lang="en-US" sz="5400" b="1" dirty="0">
                <a:solidFill>
                  <a:schemeClr val="bg1"/>
                </a:solidFill>
              </a:rPr>
              <a:t>FOR YOUR TIME</a:t>
            </a:r>
            <a:endParaRPr lang="en-US" sz="5400" b="1" dirty="0">
              <a:solidFill>
                <a:schemeClr val="bg1"/>
              </a:solidFill>
              <a:ea typeface="Arial" pitchFamily="34" charset="-122"/>
              <a:cs typeface="Arial" pitchFamily="34" charset="-120"/>
            </a:endParaRPr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C0098B8B-8CD3-828A-5E6F-3087F64ED53B}"/>
              </a:ext>
            </a:extLst>
          </p:cNvPr>
          <p:cNvSpPr/>
          <p:nvPr/>
        </p:nvSpPr>
        <p:spPr>
          <a:xfrm>
            <a:off x="533548" y="3308129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AB344"/>
                </a:solidFill>
              </a:rPr>
              <a:t>Performance Analytics - Kimia Farma 2020–2023</a:t>
            </a:r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25711026-EDFC-786D-2AA7-D2F31B2F2A39}"/>
              </a:ext>
            </a:extLst>
          </p:cNvPr>
          <p:cNvSpPr/>
          <p:nvPr/>
        </p:nvSpPr>
        <p:spPr>
          <a:xfrm>
            <a:off x="504678" y="478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300" b="1" kern="0" spc="100" dirty="0">
                <a:solidFill>
                  <a:schemeClr val="bg1"/>
                </a:solidFill>
              </a:rPr>
              <a:t>COLAB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B9E3440C-546B-138E-1431-D09F36A84382}"/>
              </a:ext>
            </a:extLst>
          </p:cNvPr>
          <p:cNvSpPr/>
          <p:nvPr/>
        </p:nvSpPr>
        <p:spPr>
          <a:xfrm>
            <a:off x="1739118" y="4782240"/>
            <a:ext cx="4356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chemeClr val="bg1"/>
                </a:solidFill>
              </a:rPr>
              <a:t>Google </a:t>
            </a:r>
            <a:r>
              <a:rPr lang="en-US" sz="1300" dirty="0" err="1">
                <a:solidFill>
                  <a:schemeClr val="bg1"/>
                </a:solidFill>
              </a:rPr>
              <a:t>Colab</a:t>
            </a:r>
            <a:r>
              <a:rPr lang="en-US" sz="1300" dirty="0">
                <a:solidFill>
                  <a:schemeClr val="bg1"/>
                </a:solidFill>
              </a:rPr>
              <a:t> link can access here for full code (</a:t>
            </a:r>
            <a:r>
              <a:rPr lang="en-US" sz="1300" b="1" dirty="0">
                <a:solidFill>
                  <a:srgbClr val="DAB344"/>
                </a:solidFill>
                <a:hlinkClick r:id="rId5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Here</a:t>
            </a:r>
            <a:r>
              <a:rPr lang="en-US" sz="13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54ECF09B-DB55-5B0F-17A4-A5C54B054553}"/>
              </a:ext>
            </a:extLst>
          </p:cNvPr>
          <p:cNvSpPr/>
          <p:nvPr/>
        </p:nvSpPr>
        <p:spPr>
          <a:xfrm>
            <a:off x="504678" y="5142985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300" b="1" kern="0" spc="100" dirty="0">
                <a:solidFill>
                  <a:schemeClr val="bg1"/>
                </a:solidFill>
              </a:rPr>
              <a:t>DRIVE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F94E6262-BF20-CFA6-3D46-FBC453E4F22C}"/>
              </a:ext>
            </a:extLst>
          </p:cNvPr>
          <p:cNvSpPr/>
          <p:nvPr/>
        </p:nvSpPr>
        <p:spPr>
          <a:xfrm>
            <a:off x="1739117" y="5142985"/>
            <a:ext cx="45373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chemeClr val="bg1"/>
                </a:solidFill>
              </a:rPr>
              <a:t>All asset file (data and presentation) can access here (</a:t>
            </a:r>
            <a:r>
              <a:rPr lang="en-US" sz="1300" b="1" dirty="0">
                <a:solidFill>
                  <a:srgbClr val="DAB344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Here</a:t>
            </a:r>
            <a:r>
              <a:rPr lang="en-US" sz="1300" b="1" dirty="0">
                <a:solidFill>
                  <a:schemeClr val="bg1"/>
                </a:solidFill>
              </a:rPr>
              <a:t>)</a:t>
            </a:r>
            <a:endParaRPr lang="en-US" sz="1300" b="1" dirty="0">
              <a:solidFill>
                <a:srgbClr val="DAB344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1669</Words>
  <Application>Microsoft Office PowerPoint</Application>
  <PresentationFormat>Widescreen</PresentationFormat>
  <Paragraphs>282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IrsanMaulana</cp:lastModifiedBy>
  <cp:revision>3</cp:revision>
  <dcterms:created xsi:type="dcterms:W3CDTF">2026-08-17T02:06:58Z</dcterms:created>
  <dcterms:modified xsi:type="dcterms:W3CDTF">2026-08-17T08:57:01Z</dcterms:modified>
</cp:coreProperties>
</file>